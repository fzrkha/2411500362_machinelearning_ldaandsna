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x="18288000" cy="10287000"/>
  <p:notesSz cx="6858000" cy="9144000"/>
  <p:embeddedFontLst>
    <p:embeddedFont>
      <p:font typeface="Archivo Black" charset="1" panose="020B0A03020202020B04"/>
      <p:regular r:id="rId33"/>
    </p:embeddedFont>
    <p:embeddedFont>
      <p:font typeface="Raleway Bold" charset="1" panose="00000000000000000000"/>
      <p:regular r:id="rId34"/>
    </p:embeddedFont>
    <p:embeddedFont>
      <p:font typeface="Raleway" charset="1" panose="00000000000000000000"/>
      <p:regular r:id="rId35"/>
    </p:embeddedFont>
    <p:embeddedFont>
      <p:font typeface="Raleway Italics" charset="1" panose="0000000000000000000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https://youtu.be/BxryBUtUqEk" TargetMode="External" Type="http://schemas.openxmlformats.org/officeDocument/2006/relationships/hyperlink"/><Relationship Id="rId3" Target="https://drive.google.com/file/d/1xpa7Lw0ovgNLO-9yXtv8qU61YWeY8-21/view?usp=sharing" TargetMode="External" Type="http://schemas.openxmlformats.org/officeDocument/2006/relationships/hyperlink"/><Relationship Id="rId4" Target="https://drive.google.com/file/d/1Bsk-ziHR94VF8-tm9e0n5zypWmStSEYp/view?usp=sharing"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C1C1C"/>
        </a:solidFill>
      </p:bgPr>
    </p:bg>
    <p:spTree>
      <p:nvGrpSpPr>
        <p:cNvPr id="1" name=""/>
        <p:cNvGrpSpPr/>
        <p:nvPr/>
      </p:nvGrpSpPr>
      <p:grpSpPr>
        <a:xfrm>
          <a:off x="0" y="0"/>
          <a:ext cx="0" cy="0"/>
          <a:chOff x="0" y="0"/>
          <a:chExt cx="0" cy="0"/>
        </a:xfrm>
      </p:grpSpPr>
      <p:sp>
        <p:nvSpPr>
          <p:cNvPr name="Freeform 2" id="2"/>
          <p:cNvSpPr/>
          <p:nvPr/>
        </p:nvSpPr>
        <p:spPr>
          <a:xfrm flipH="false" flipV="false" rot="0">
            <a:off x="9440388" y="-1526563"/>
            <a:ext cx="10355258" cy="10355258"/>
          </a:xfrm>
          <a:custGeom>
            <a:avLst/>
            <a:gdLst/>
            <a:ahLst/>
            <a:cxnLst/>
            <a:rect r="r" b="b" t="t" l="l"/>
            <a:pathLst>
              <a:path h="10355258" w="10355258">
                <a:moveTo>
                  <a:pt x="0" y="0"/>
                </a:moveTo>
                <a:lnTo>
                  <a:pt x="10355258" y="0"/>
                </a:lnTo>
                <a:lnTo>
                  <a:pt x="10355258" y="10355258"/>
                </a:lnTo>
                <a:lnTo>
                  <a:pt x="0" y="10355258"/>
                </a:lnTo>
                <a:lnTo>
                  <a:pt x="0" y="0"/>
                </a:lnTo>
                <a:close/>
              </a:path>
            </a:pathLst>
          </a:custGeom>
          <a:blipFill>
            <a:blip r:embed="rId2"/>
            <a:stretch>
              <a:fillRect l="0" t="0" r="0" b="0"/>
            </a:stretch>
          </a:blipFill>
        </p:spPr>
      </p:sp>
      <p:sp>
        <p:nvSpPr>
          <p:cNvPr name="TextBox 3" id="3"/>
          <p:cNvSpPr txBox="true"/>
          <p:nvPr/>
        </p:nvSpPr>
        <p:spPr>
          <a:xfrm rot="0">
            <a:off x="1028700" y="4772114"/>
            <a:ext cx="14170960" cy="3611880"/>
          </a:xfrm>
          <a:prstGeom prst="rect">
            <a:avLst/>
          </a:prstGeom>
        </p:spPr>
        <p:txBody>
          <a:bodyPr anchor="t" rtlCol="false" tIns="0" lIns="0" bIns="0" rIns="0">
            <a:spAutoFit/>
          </a:bodyPr>
          <a:lstStyle/>
          <a:p>
            <a:pPr algn="l">
              <a:lnSpc>
                <a:spcPts val="5699"/>
              </a:lnSpc>
            </a:pPr>
            <a:r>
              <a:rPr lang="en-US" sz="5699" spc="364">
                <a:solidFill>
                  <a:srgbClr val="FFB8A0"/>
                </a:solidFill>
                <a:latin typeface="Archivo Black"/>
                <a:ea typeface="Archivo Black"/>
                <a:cs typeface="Archivo Black"/>
                <a:sym typeface="Archivo Black"/>
              </a:rPr>
              <a:t>ANALISIS TOPIK DAN JARINGAN SOSIAL PADA DISKUSI PIDATO PRABOWO MENGGUNAKAN LDA, NETWORKX, DAN GEPHI</a:t>
            </a:r>
          </a:p>
        </p:txBody>
      </p:sp>
      <p:sp>
        <p:nvSpPr>
          <p:cNvPr name="TextBox 4" id="4"/>
          <p:cNvSpPr txBox="true"/>
          <p:nvPr/>
        </p:nvSpPr>
        <p:spPr>
          <a:xfrm rot="0">
            <a:off x="1159233" y="3538797"/>
            <a:ext cx="8618934" cy="1128542"/>
          </a:xfrm>
          <a:prstGeom prst="rect">
            <a:avLst/>
          </a:prstGeom>
        </p:spPr>
        <p:txBody>
          <a:bodyPr anchor="t" rtlCol="false" tIns="0" lIns="0" bIns="0" rIns="0">
            <a:spAutoFit/>
          </a:bodyPr>
          <a:lstStyle/>
          <a:p>
            <a:pPr algn="just">
              <a:lnSpc>
                <a:spcPts val="4305"/>
              </a:lnSpc>
            </a:pPr>
            <a:r>
              <a:rPr lang="en-US" sz="4305" spc="275">
                <a:solidFill>
                  <a:srgbClr val="FC6736"/>
                </a:solidFill>
                <a:latin typeface="Archivo Black"/>
                <a:ea typeface="Archivo Black"/>
                <a:cs typeface="Archivo Black"/>
                <a:sym typeface="Archivo Black"/>
              </a:rPr>
              <a:t>FANSOLI | 2411500362</a:t>
            </a:r>
          </a:p>
          <a:p>
            <a:pPr algn="just">
              <a:lnSpc>
                <a:spcPts val="4305"/>
              </a:lnSpc>
            </a:pPr>
            <a:r>
              <a:rPr lang="en-US" sz="4305" spc="275">
                <a:solidFill>
                  <a:srgbClr val="FC6736"/>
                </a:solidFill>
                <a:latin typeface="Archivo Black"/>
                <a:ea typeface="Archivo Black"/>
                <a:cs typeface="Archivo Black"/>
                <a:sym typeface="Archivo Black"/>
              </a:rPr>
              <a:t>DR. INDRA, S.KOM., M.T.I.</a:t>
            </a:r>
          </a:p>
        </p:txBody>
      </p:sp>
      <p:sp>
        <p:nvSpPr>
          <p:cNvPr name="TextBox 5" id="5"/>
          <p:cNvSpPr txBox="true"/>
          <p:nvPr/>
        </p:nvSpPr>
        <p:spPr>
          <a:xfrm rot="0">
            <a:off x="1159233" y="8469719"/>
            <a:ext cx="10137972" cy="506717"/>
          </a:xfrm>
          <a:prstGeom prst="rect">
            <a:avLst/>
          </a:prstGeom>
        </p:spPr>
        <p:txBody>
          <a:bodyPr anchor="t" rtlCol="false" tIns="0" lIns="0" bIns="0" rIns="0">
            <a:spAutoFit/>
          </a:bodyPr>
          <a:lstStyle/>
          <a:p>
            <a:pPr algn="l">
              <a:lnSpc>
                <a:spcPts val="4199"/>
              </a:lnSpc>
            </a:pPr>
            <a:r>
              <a:rPr lang="en-US" b="true" sz="2999" spc="578">
                <a:solidFill>
                  <a:srgbClr val="FC6736"/>
                </a:solidFill>
                <a:latin typeface="Raleway Bold"/>
                <a:ea typeface="Raleway Bold"/>
                <a:cs typeface="Raleway Bold"/>
                <a:sym typeface="Raleway Bold"/>
              </a:rPr>
              <a:t>MESIN PEMBELAJARAN - AA</a:t>
            </a:r>
          </a:p>
        </p:txBody>
      </p:sp>
      <p:sp>
        <p:nvSpPr>
          <p:cNvPr name="TextBox 6" id="6"/>
          <p:cNvSpPr txBox="true"/>
          <p:nvPr/>
        </p:nvSpPr>
        <p:spPr>
          <a:xfrm rot="0">
            <a:off x="1159233" y="981075"/>
            <a:ext cx="3471335" cy="761908"/>
          </a:xfrm>
          <a:prstGeom prst="rect">
            <a:avLst/>
          </a:prstGeom>
        </p:spPr>
        <p:txBody>
          <a:bodyPr anchor="t" rtlCol="false" tIns="0" lIns="0" bIns="0" rIns="0">
            <a:spAutoFit/>
          </a:bodyPr>
          <a:lstStyle/>
          <a:p>
            <a:pPr algn="l">
              <a:lnSpc>
                <a:spcPts val="3087"/>
              </a:lnSpc>
            </a:pPr>
            <a:r>
              <a:rPr lang="en-US" sz="2205" spc="425">
                <a:solidFill>
                  <a:srgbClr val="FC6736"/>
                </a:solidFill>
                <a:latin typeface="Archivo Black"/>
                <a:ea typeface="Archivo Black"/>
                <a:cs typeface="Archivo Black"/>
                <a:sym typeface="Archivo Black"/>
              </a:rPr>
              <a:t>UNIVERSITAS BUDI LUHUR</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C6736"/>
        </a:solidFill>
      </p:bgPr>
    </p:bg>
    <p:spTree>
      <p:nvGrpSpPr>
        <p:cNvPr id="1" name=""/>
        <p:cNvGrpSpPr/>
        <p:nvPr/>
      </p:nvGrpSpPr>
      <p:grpSpPr>
        <a:xfrm>
          <a:off x="0" y="0"/>
          <a:ext cx="0" cy="0"/>
          <a:chOff x="0" y="0"/>
          <a:chExt cx="0" cy="0"/>
        </a:xfrm>
      </p:grpSpPr>
      <p:grpSp>
        <p:nvGrpSpPr>
          <p:cNvPr name="Group 2" id="2"/>
          <p:cNvGrpSpPr/>
          <p:nvPr/>
        </p:nvGrpSpPr>
        <p:grpSpPr>
          <a:xfrm rot="0">
            <a:off x="1381384" y="3600450"/>
            <a:ext cx="15525232" cy="5657850"/>
            <a:chOff x="0" y="0"/>
            <a:chExt cx="4088950" cy="1490133"/>
          </a:xfrm>
        </p:grpSpPr>
        <p:sp>
          <p:nvSpPr>
            <p:cNvPr name="Freeform 3" id="3"/>
            <p:cNvSpPr/>
            <p:nvPr/>
          </p:nvSpPr>
          <p:spPr>
            <a:xfrm flipH="false" flipV="false" rot="0">
              <a:off x="0" y="0"/>
              <a:ext cx="4088950" cy="1490133"/>
            </a:xfrm>
            <a:custGeom>
              <a:avLst/>
              <a:gdLst/>
              <a:ahLst/>
              <a:cxnLst/>
              <a:rect r="r" b="b" t="t" l="l"/>
              <a:pathLst>
                <a:path h="1490133" w="4088950">
                  <a:moveTo>
                    <a:pt x="25432" y="0"/>
                  </a:moveTo>
                  <a:lnTo>
                    <a:pt x="4063518" y="0"/>
                  </a:lnTo>
                  <a:cubicBezTo>
                    <a:pt x="4070263" y="0"/>
                    <a:pt x="4076732" y="2679"/>
                    <a:pt x="4081501" y="7449"/>
                  </a:cubicBezTo>
                  <a:cubicBezTo>
                    <a:pt x="4086271" y="12218"/>
                    <a:pt x="4088950" y="18687"/>
                    <a:pt x="4088950" y="25432"/>
                  </a:cubicBezTo>
                  <a:lnTo>
                    <a:pt x="4088950" y="1464701"/>
                  </a:lnTo>
                  <a:cubicBezTo>
                    <a:pt x="4088950" y="1471446"/>
                    <a:pt x="4086271" y="1477915"/>
                    <a:pt x="4081501" y="1482684"/>
                  </a:cubicBezTo>
                  <a:cubicBezTo>
                    <a:pt x="4076732" y="1487454"/>
                    <a:pt x="4070263" y="1490133"/>
                    <a:pt x="4063518" y="1490133"/>
                  </a:cubicBezTo>
                  <a:lnTo>
                    <a:pt x="25432" y="1490133"/>
                  </a:lnTo>
                  <a:cubicBezTo>
                    <a:pt x="18687" y="1490133"/>
                    <a:pt x="12218" y="1487454"/>
                    <a:pt x="7449" y="1482684"/>
                  </a:cubicBezTo>
                  <a:cubicBezTo>
                    <a:pt x="2679" y="1477915"/>
                    <a:pt x="0" y="1471446"/>
                    <a:pt x="0" y="1464701"/>
                  </a:cubicBezTo>
                  <a:lnTo>
                    <a:pt x="0" y="25432"/>
                  </a:lnTo>
                  <a:cubicBezTo>
                    <a:pt x="0" y="18687"/>
                    <a:pt x="2679" y="12218"/>
                    <a:pt x="7449" y="7449"/>
                  </a:cubicBezTo>
                  <a:cubicBezTo>
                    <a:pt x="12218" y="2679"/>
                    <a:pt x="18687" y="0"/>
                    <a:pt x="25432" y="0"/>
                  </a:cubicBezTo>
                  <a:close/>
                </a:path>
              </a:pathLst>
            </a:custGeom>
            <a:solidFill>
              <a:srgbClr val="000000"/>
            </a:solidFill>
          </p:spPr>
        </p:sp>
        <p:sp>
          <p:nvSpPr>
            <p:cNvPr name="TextBox 4" id="4"/>
            <p:cNvSpPr txBox="true"/>
            <p:nvPr/>
          </p:nvSpPr>
          <p:spPr>
            <a:xfrm>
              <a:off x="0" y="19050"/>
              <a:ext cx="4088950" cy="1471083"/>
            </a:xfrm>
            <a:prstGeom prst="rect">
              <a:avLst/>
            </a:prstGeom>
          </p:spPr>
          <p:txBody>
            <a:bodyPr anchor="ctr" rtlCol="false" tIns="50800" lIns="50800" bIns="50800" rIns="50800"/>
            <a:lstStyle/>
            <a:p>
              <a:pPr algn="ctr">
                <a:lnSpc>
                  <a:spcPts val="2674"/>
                </a:lnSpc>
              </a:pPr>
            </a:p>
          </p:txBody>
        </p:sp>
      </p:grpSp>
      <p:sp>
        <p:nvSpPr>
          <p:cNvPr name="TextBox 5" id="5"/>
          <p:cNvSpPr txBox="true"/>
          <p:nvPr/>
        </p:nvSpPr>
        <p:spPr>
          <a:xfrm rot="0">
            <a:off x="1784395" y="1067877"/>
            <a:ext cx="14719209" cy="1859269"/>
          </a:xfrm>
          <a:prstGeom prst="rect">
            <a:avLst/>
          </a:prstGeom>
        </p:spPr>
        <p:txBody>
          <a:bodyPr anchor="t" rtlCol="false" tIns="0" lIns="0" bIns="0" rIns="0">
            <a:spAutoFit/>
          </a:bodyPr>
          <a:lstStyle/>
          <a:p>
            <a:pPr algn="l">
              <a:lnSpc>
                <a:spcPts val="15120"/>
              </a:lnSpc>
            </a:pPr>
            <a:r>
              <a:rPr lang="en-US" sz="10800" spc="-723">
                <a:solidFill>
                  <a:srgbClr val="1C1C1C"/>
                </a:solidFill>
                <a:latin typeface="Archivo Black"/>
                <a:ea typeface="Archivo Black"/>
                <a:cs typeface="Archivo Black"/>
                <a:sym typeface="Archivo Black"/>
              </a:rPr>
              <a:t>TUJUAN PENELITIAN</a:t>
            </a:r>
          </a:p>
        </p:txBody>
      </p:sp>
      <p:sp>
        <p:nvSpPr>
          <p:cNvPr name="TextBox 6" id="6"/>
          <p:cNvSpPr txBox="true"/>
          <p:nvPr/>
        </p:nvSpPr>
        <p:spPr>
          <a:xfrm rot="0">
            <a:off x="1784395" y="4651375"/>
            <a:ext cx="14719209" cy="3498850"/>
          </a:xfrm>
          <a:prstGeom prst="rect">
            <a:avLst/>
          </a:prstGeom>
        </p:spPr>
        <p:txBody>
          <a:bodyPr anchor="t" rtlCol="false" tIns="0" lIns="0" bIns="0" rIns="0">
            <a:spAutoFit/>
          </a:bodyPr>
          <a:lstStyle/>
          <a:p>
            <a:pPr algn="just">
              <a:lnSpc>
                <a:spcPts val="3499"/>
              </a:lnSpc>
            </a:pPr>
            <a:r>
              <a:rPr lang="en-US" b="true" sz="2499">
                <a:solidFill>
                  <a:srgbClr val="FFFFFF"/>
                </a:solidFill>
                <a:latin typeface="Raleway Bold"/>
                <a:ea typeface="Raleway Bold"/>
                <a:cs typeface="Raleway Bold"/>
                <a:sym typeface="Raleway Bold"/>
              </a:rPr>
              <a:t>TUJUAN PENELITIAN INI ADA DUA. YANG PERTAMA, SAYA INGIN MENGETAHUI TOPIK APA SAJA YANG PALING BANYAK DIBICARAKAN OLEH MASYARAKAT KETIKA MEMBAHAS PIDATO PRABOWO. UNTUK ITU SAYA MENGGUNAKAN METODE LDA AGAR KOMENTAR ATAU TWEET BISA DIKELOMPOKKAN BERDASARKAN TOPIKNYA.</a:t>
            </a:r>
          </a:p>
          <a:p>
            <a:pPr algn="just">
              <a:lnSpc>
                <a:spcPts val="3499"/>
              </a:lnSpc>
            </a:pPr>
          </a:p>
          <a:p>
            <a:pPr algn="just">
              <a:lnSpc>
                <a:spcPts val="3499"/>
              </a:lnSpc>
            </a:pPr>
            <a:r>
              <a:rPr lang="en-US" b="true" sz="2499">
                <a:solidFill>
                  <a:srgbClr val="FFFFFF"/>
                </a:solidFill>
                <a:latin typeface="Raleway Bold"/>
                <a:ea typeface="Raleway Bold"/>
                <a:cs typeface="Raleway Bold"/>
                <a:sym typeface="Raleway Bold"/>
              </a:rPr>
              <a:t>YANG KEDUA, SAYA INGIN MELIHAT BAGAIMANA INTERAKSI ANTAR PENGGUNA DI MEDIA SOSIAL MELALUI SOCIAL NETWORK ANALYSIS. DARI SITU BISA DIKETAHUI SIAPA SAJA YANG SALING BERINTERAKSI.</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1C1C1C"/>
        </a:solidFill>
      </p:bgPr>
    </p:bg>
    <p:spTree>
      <p:nvGrpSpPr>
        <p:cNvPr id="1" name=""/>
        <p:cNvGrpSpPr/>
        <p:nvPr/>
      </p:nvGrpSpPr>
      <p:grpSpPr>
        <a:xfrm>
          <a:off x="0" y="0"/>
          <a:ext cx="0" cy="0"/>
          <a:chOff x="0" y="0"/>
          <a:chExt cx="0" cy="0"/>
        </a:xfrm>
      </p:grpSpPr>
      <p:sp>
        <p:nvSpPr>
          <p:cNvPr name="TextBox 2" id="2"/>
          <p:cNvSpPr txBox="true"/>
          <p:nvPr/>
        </p:nvSpPr>
        <p:spPr>
          <a:xfrm rot="0">
            <a:off x="1485364" y="1609049"/>
            <a:ext cx="15317272" cy="1160269"/>
          </a:xfrm>
          <a:prstGeom prst="rect">
            <a:avLst/>
          </a:prstGeom>
        </p:spPr>
        <p:txBody>
          <a:bodyPr anchor="t" rtlCol="false" tIns="0" lIns="0" bIns="0" rIns="0">
            <a:spAutoFit/>
          </a:bodyPr>
          <a:lstStyle/>
          <a:p>
            <a:pPr algn="ctr">
              <a:lnSpc>
                <a:spcPts val="8623"/>
              </a:lnSpc>
            </a:pPr>
            <a:r>
              <a:rPr lang="en-US" sz="8799" spc="563">
                <a:solidFill>
                  <a:srgbClr val="FFFFFF"/>
                </a:solidFill>
                <a:latin typeface="Archivo Black"/>
                <a:ea typeface="Archivo Black"/>
                <a:cs typeface="Archivo Black"/>
                <a:sym typeface="Archivo Black"/>
              </a:rPr>
              <a:t>TAHAPAN PENELITIAN</a:t>
            </a:r>
          </a:p>
        </p:txBody>
      </p:sp>
      <p:sp>
        <p:nvSpPr>
          <p:cNvPr name="TextBox 3" id="3"/>
          <p:cNvSpPr txBox="true"/>
          <p:nvPr/>
        </p:nvSpPr>
        <p:spPr>
          <a:xfrm rot="0">
            <a:off x="1379084" y="7177281"/>
            <a:ext cx="1405644" cy="299720"/>
          </a:xfrm>
          <a:prstGeom prst="rect">
            <a:avLst/>
          </a:prstGeom>
        </p:spPr>
        <p:txBody>
          <a:bodyPr anchor="t" rtlCol="false" tIns="0" lIns="0" bIns="0" rIns="0">
            <a:spAutoFit/>
          </a:bodyPr>
          <a:lstStyle/>
          <a:p>
            <a:pPr algn="l">
              <a:lnSpc>
                <a:spcPts val="2380"/>
              </a:lnSpc>
            </a:pPr>
            <a:r>
              <a:rPr lang="en-US" sz="1700">
                <a:solidFill>
                  <a:srgbClr val="FC6736"/>
                </a:solidFill>
                <a:latin typeface="Archivo Black"/>
                <a:ea typeface="Archivo Black"/>
                <a:cs typeface="Archivo Black"/>
                <a:sym typeface="Archivo Black"/>
              </a:rPr>
              <a:t>CRAWLING</a:t>
            </a:r>
          </a:p>
        </p:txBody>
      </p:sp>
      <p:sp>
        <p:nvSpPr>
          <p:cNvPr name="TextBox 4" id="4"/>
          <p:cNvSpPr txBox="true"/>
          <p:nvPr/>
        </p:nvSpPr>
        <p:spPr>
          <a:xfrm rot="0">
            <a:off x="1379084" y="7519546"/>
            <a:ext cx="3652872" cy="1185545"/>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Raleway"/>
                <a:ea typeface="Raleway"/>
                <a:cs typeface="Raleway"/>
                <a:sym typeface="Raleway"/>
              </a:rPr>
              <a:t>Mengambil dataset dari data tweet pada Twitter / X, dengan Tweet Harvest yang dikembangkan oleh Helmi Satria.</a:t>
            </a:r>
          </a:p>
        </p:txBody>
      </p:sp>
      <p:sp>
        <p:nvSpPr>
          <p:cNvPr name="TextBox 5" id="5"/>
          <p:cNvSpPr txBox="true"/>
          <p:nvPr/>
        </p:nvSpPr>
        <p:spPr>
          <a:xfrm rot="0">
            <a:off x="1379084" y="5875924"/>
            <a:ext cx="2513101" cy="1302502"/>
          </a:xfrm>
          <a:prstGeom prst="rect">
            <a:avLst/>
          </a:prstGeom>
        </p:spPr>
        <p:txBody>
          <a:bodyPr anchor="t" rtlCol="false" tIns="0" lIns="0" bIns="0" rIns="0">
            <a:spAutoFit/>
          </a:bodyPr>
          <a:lstStyle/>
          <a:p>
            <a:pPr algn="l">
              <a:lnSpc>
                <a:spcPts val="9603"/>
              </a:lnSpc>
            </a:pPr>
            <a:r>
              <a:rPr lang="en-US" sz="9799" spc="-460">
                <a:solidFill>
                  <a:srgbClr val="FFFFFF"/>
                </a:solidFill>
                <a:latin typeface="Archivo Black"/>
                <a:ea typeface="Archivo Black"/>
                <a:cs typeface="Archivo Black"/>
                <a:sym typeface="Archivo Black"/>
              </a:rPr>
              <a:t>01</a:t>
            </a:r>
          </a:p>
        </p:txBody>
      </p:sp>
      <p:sp>
        <p:nvSpPr>
          <p:cNvPr name="TextBox 6" id="6"/>
          <p:cNvSpPr txBox="true"/>
          <p:nvPr/>
        </p:nvSpPr>
        <p:spPr>
          <a:xfrm rot="0">
            <a:off x="5340699" y="7160450"/>
            <a:ext cx="2062520" cy="299720"/>
          </a:xfrm>
          <a:prstGeom prst="rect">
            <a:avLst/>
          </a:prstGeom>
        </p:spPr>
        <p:txBody>
          <a:bodyPr anchor="t" rtlCol="false" tIns="0" lIns="0" bIns="0" rIns="0">
            <a:spAutoFit/>
          </a:bodyPr>
          <a:lstStyle/>
          <a:p>
            <a:pPr algn="l">
              <a:lnSpc>
                <a:spcPts val="2380"/>
              </a:lnSpc>
            </a:pPr>
            <a:r>
              <a:rPr lang="en-US" sz="1700">
                <a:solidFill>
                  <a:srgbClr val="FC6736"/>
                </a:solidFill>
                <a:latin typeface="Archivo Black"/>
                <a:ea typeface="Archivo Black"/>
                <a:cs typeface="Archivo Black"/>
                <a:sym typeface="Archivo Black"/>
              </a:rPr>
              <a:t>PREPROCESSING</a:t>
            </a:r>
          </a:p>
        </p:txBody>
      </p:sp>
      <p:sp>
        <p:nvSpPr>
          <p:cNvPr name="TextBox 7" id="7"/>
          <p:cNvSpPr txBox="true"/>
          <p:nvPr/>
        </p:nvSpPr>
        <p:spPr>
          <a:xfrm rot="0">
            <a:off x="5340699" y="7502715"/>
            <a:ext cx="3652872" cy="89027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Raleway"/>
                <a:ea typeface="Raleway"/>
                <a:cs typeface="Raleway"/>
                <a:sym typeface="Raleway"/>
              </a:rPr>
              <a:t>Membersihkan data komentar pada dataset, untuk hasil akhir yang lebih optimal dan efisien.</a:t>
            </a:r>
          </a:p>
        </p:txBody>
      </p:sp>
      <p:sp>
        <p:nvSpPr>
          <p:cNvPr name="TextBox 8" id="8"/>
          <p:cNvSpPr txBox="true"/>
          <p:nvPr/>
        </p:nvSpPr>
        <p:spPr>
          <a:xfrm rot="0">
            <a:off x="5340699" y="5859093"/>
            <a:ext cx="2513101" cy="1302502"/>
          </a:xfrm>
          <a:prstGeom prst="rect">
            <a:avLst/>
          </a:prstGeom>
        </p:spPr>
        <p:txBody>
          <a:bodyPr anchor="t" rtlCol="false" tIns="0" lIns="0" bIns="0" rIns="0">
            <a:spAutoFit/>
          </a:bodyPr>
          <a:lstStyle/>
          <a:p>
            <a:pPr algn="l">
              <a:lnSpc>
                <a:spcPts val="9603"/>
              </a:lnSpc>
            </a:pPr>
            <a:r>
              <a:rPr lang="en-US" sz="9799" spc="-460">
                <a:solidFill>
                  <a:srgbClr val="FFFFFF"/>
                </a:solidFill>
                <a:latin typeface="Archivo Black"/>
                <a:ea typeface="Archivo Black"/>
                <a:cs typeface="Archivo Black"/>
                <a:sym typeface="Archivo Black"/>
              </a:rPr>
              <a:t>02</a:t>
            </a:r>
          </a:p>
        </p:txBody>
      </p:sp>
      <p:sp>
        <p:nvSpPr>
          <p:cNvPr name="TextBox 9" id="9"/>
          <p:cNvSpPr txBox="true"/>
          <p:nvPr/>
        </p:nvSpPr>
        <p:spPr>
          <a:xfrm rot="0">
            <a:off x="9298372" y="7143619"/>
            <a:ext cx="1405644" cy="299720"/>
          </a:xfrm>
          <a:prstGeom prst="rect">
            <a:avLst/>
          </a:prstGeom>
        </p:spPr>
        <p:txBody>
          <a:bodyPr anchor="t" rtlCol="false" tIns="0" lIns="0" bIns="0" rIns="0">
            <a:spAutoFit/>
          </a:bodyPr>
          <a:lstStyle/>
          <a:p>
            <a:pPr algn="l">
              <a:lnSpc>
                <a:spcPts val="2380"/>
              </a:lnSpc>
            </a:pPr>
            <a:r>
              <a:rPr lang="en-US" sz="1700">
                <a:solidFill>
                  <a:srgbClr val="FC6736"/>
                </a:solidFill>
                <a:latin typeface="Archivo Black"/>
                <a:ea typeface="Archivo Black"/>
                <a:cs typeface="Archivo Black"/>
                <a:sym typeface="Archivo Black"/>
              </a:rPr>
              <a:t>MODELING</a:t>
            </a:r>
          </a:p>
        </p:txBody>
      </p:sp>
      <p:sp>
        <p:nvSpPr>
          <p:cNvPr name="TextBox 10" id="10"/>
          <p:cNvSpPr txBox="true"/>
          <p:nvPr/>
        </p:nvSpPr>
        <p:spPr>
          <a:xfrm rot="0">
            <a:off x="9298372" y="7485884"/>
            <a:ext cx="3652872" cy="1185545"/>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Raleway"/>
                <a:ea typeface="Raleway"/>
                <a:cs typeface="Raleway"/>
                <a:sym typeface="Raleway"/>
              </a:rPr>
              <a:t>Melakukan pemodelan dengan LDA untuk mencari klaster dari topik yang sedang dibicarakan dalam dataset ini.</a:t>
            </a:r>
          </a:p>
        </p:txBody>
      </p:sp>
      <p:sp>
        <p:nvSpPr>
          <p:cNvPr name="TextBox 11" id="11"/>
          <p:cNvSpPr txBox="true"/>
          <p:nvPr/>
        </p:nvSpPr>
        <p:spPr>
          <a:xfrm rot="0">
            <a:off x="9298372" y="5842262"/>
            <a:ext cx="2513101" cy="1302502"/>
          </a:xfrm>
          <a:prstGeom prst="rect">
            <a:avLst/>
          </a:prstGeom>
        </p:spPr>
        <p:txBody>
          <a:bodyPr anchor="t" rtlCol="false" tIns="0" lIns="0" bIns="0" rIns="0">
            <a:spAutoFit/>
          </a:bodyPr>
          <a:lstStyle/>
          <a:p>
            <a:pPr algn="l">
              <a:lnSpc>
                <a:spcPts val="9603"/>
              </a:lnSpc>
            </a:pPr>
            <a:r>
              <a:rPr lang="en-US" sz="9799" spc="-460">
                <a:solidFill>
                  <a:srgbClr val="FFFFFF"/>
                </a:solidFill>
                <a:latin typeface="Archivo Black"/>
                <a:ea typeface="Archivo Black"/>
                <a:cs typeface="Archivo Black"/>
                <a:sym typeface="Archivo Black"/>
              </a:rPr>
              <a:t>03</a:t>
            </a:r>
          </a:p>
        </p:txBody>
      </p:sp>
      <p:sp>
        <p:nvSpPr>
          <p:cNvPr name="TextBox 12" id="12"/>
          <p:cNvSpPr txBox="true"/>
          <p:nvPr/>
        </p:nvSpPr>
        <p:spPr>
          <a:xfrm rot="0">
            <a:off x="13256044" y="7143619"/>
            <a:ext cx="3501747" cy="299720"/>
          </a:xfrm>
          <a:prstGeom prst="rect">
            <a:avLst/>
          </a:prstGeom>
        </p:spPr>
        <p:txBody>
          <a:bodyPr anchor="t" rtlCol="false" tIns="0" lIns="0" bIns="0" rIns="0">
            <a:spAutoFit/>
          </a:bodyPr>
          <a:lstStyle/>
          <a:p>
            <a:pPr algn="l">
              <a:lnSpc>
                <a:spcPts val="2380"/>
              </a:lnSpc>
            </a:pPr>
            <a:r>
              <a:rPr lang="en-US" sz="1700">
                <a:solidFill>
                  <a:srgbClr val="FC6736"/>
                </a:solidFill>
                <a:latin typeface="Archivo Black"/>
                <a:ea typeface="Archivo Black"/>
                <a:cs typeface="Archivo Black"/>
                <a:sym typeface="Archivo Black"/>
              </a:rPr>
              <a:t>SOCIAL NETWORK ANALYSIS</a:t>
            </a:r>
          </a:p>
        </p:txBody>
      </p:sp>
      <p:sp>
        <p:nvSpPr>
          <p:cNvPr name="TextBox 13" id="13"/>
          <p:cNvSpPr txBox="true"/>
          <p:nvPr/>
        </p:nvSpPr>
        <p:spPr>
          <a:xfrm rot="0">
            <a:off x="13256044" y="7429376"/>
            <a:ext cx="3652872" cy="1185545"/>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Raleway"/>
                <a:ea typeface="Raleway"/>
                <a:cs typeface="Raleway"/>
                <a:sym typeface="Raleway"/>
              </a:rPr>
              <a:t>Menganalisis hubungan antar interaksi tiap akun dengan NetworkX dan divisualisasikan oleh Gephi.</a:t>
            </a:r>
          </a:p>
        </p:txBody>
      </p:sp>
      <p:sp>
        <p:nvSpPr>
          <p:cNvPr name="TextBox 14" id="14"/>
          <p:cNvSpPr txBox="true"/>
          <p:nvPr/>
        </p:nvSpPr>
        <p:spPr>
          <a:xfrm rot="0">
            <a:off x="13256044" y="5842262"/>
            <a:ext cx="2513101" cy="1302502"/>
          </a:xfrm>
          <a:prstGeom prst="rect">
            <a:avLst/>
          </a:prstGeom>
        </p:spPr>
        <p:txBody>
          <a:bodyPr anchor="t" rtlCol="false" tIns="0" lIns="0" bIns="0" rIns="0">
            <a:spAutoFit/>
          </a:bodyPr>
          <a:lstStyle/>
          <a:p>
            <a:pPr algn="l">
              <a:lnSpc>
                <a:spcPts val="9603"/>
              </a:lnSpc>
            </a:pPr>
            <a:r>
              <a:rPr lang="en-US" sz="9799" spc="-460">
                <a:solidFill>
                  <a:srgbClr val="FFFFFF"/>
                </a:solidFill>
                <a:latin typeface="Archivo Black"/>
                <a:ea typeface="Archivo Black"/>
                <a:cs typeface="Archivo Black"/>
                <a:sym typeface="Archivo Black"/>
              </a:rPr>
              <a:t>04</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1476375"/>
            <a:ext cx="13953296" cy="2746376"/>
          </a:xfrm>
          <a:prstGeom prst="rect">
            <a:avLst/>
          </a:prstGeom>
        </p:spPr>
        <p:txBody>
          <a:bodyPr anchor="t" rtlCol="false" tIns="0" lIns="0" bIns="0" rIns="0">
            <a:spAutoFit/>
          </a:bodyPr>
          <a:lstStyle/>
          <a:p>
            <a:pPr algn="l">
              <a:lnSpc>
                <a:spcPts val="10250"/>
              </a:lnSpc>
            </a:pPr>
            <a:r>
              <a:rPr lang="en-US" sz="12500" spc="-837">
                <a:solidFill>
                  <a:srgbClr val="363636"/>
                </a:solidFill>
                <a:latin typeface="Archivo Black"/>
                <a:ea typeface="Archivo Black"/>
                <a:cs typeface="Archivo Black"/>
                <a:sym typeface="Archivo Black"/>
              </a:rPr>
              <a:t>ACUAN PENELITIAN</a:t>
            </a:r>
          </a:p>
        </p:txBody>
      </p:sp>
      <p:sp>
        <p:nvSpPr>
          <p:cNvPr name="TextBox 3" id="3"/>
          <p:cNvSpPr txBox="true"/>
          <p:nvPr/>
        </p:nvSpPr>
        <p:spPr>
          <a:xfrm rot="0">
            <a:off x="1276572" y="4626463"/>
            <a:ext cx="15734855" cy="2825750"/>
          </a:xfrm>
          <a:prstGeom prst="rect">
            <a:avLst/>
          </a:prstGeom>
        </p:spPr>
        <p:txBody>
          <a:bodyPr anchor="t" rtlCol="false" tIns="0" lIns="0" bIns="0" rIns="0">
            <a:spAutoFit/>
          </a:bodyPr>
          <a:lstStyle/>
          <a:p>
            <a:pPr algn="just">
              <a:lnSpc>
                <a:spcPts val="2800"/>
              </a:lnSpc>
              <a:spcBef>
                <a:spcPct val="0"/>
              </a:spcBef>
            </a:pPr>
            <a:r>
              <a:rPr lang="en-US" sz="2000">
                <a:solidFill>
                  <a:srgbClr val="1C1C1C"/>
                </a:solidFill>
                <a:latin typeface="Raleway"/>
                <a:ea typeface="Raleway"/>
                <a:cs typeface="Raleway"/>
                <a:sym typeface="Raleway"/>
              </a:rPr>
              <a:t>Satria, H. (2024, March 30). </a:t>
            </a:r>
            <a:r>
              <a:rPr lang="en-US" sz="2000" i="true">
                <a:solidFill>
                  <a:srgbClr val="1C1C1C"/>
                </a:solidFill>
                <a:latin typeface="Raleway Italics"/>
                <a:ea typeface="Raleway Italics"/>
                <a:cs typeface="Raleway Italics"/>
                <a:sym typeface="Raleway Italics"/>
              </a:rPr>
              <a:t>Cara mendapatkan data (crawl) Twitter X - 30 Maret 2024</a:t>
            </a:r>
            <a:r>
              <a:rPr lang="en-US" sz="2000">
                <a:solidFill>
                  <a:srgbClr val="1C1C1C"/>
                </a:solidFill>
                <a:latin typeface="Raleway"/>
                <a:ea typeface="Raleway"/>
                <a:cs typeface="Raleway"/>
                <a:sym typeface="Raleway"/>
              </a:rPr>
              <a:t> [Video]. YouTube.</a:t>
            </a:r>
            <a:r>
              <a:rPr lang="en-US" sz="2000" u="sng">
                <a:solidFill>
                  <a:srgbClr val="1C1C1C"/>
                </a:solidFill>
                <a:latin typeface="Raleway"/>
                <a:ea typeface="Raleway"/>
                <a:cs typeface="Raleway"/>
                <a:sym typeface="Raleway"/>
                <a:hlinkClick r:id="rId2" tooltip="https://youtu.be/BxryBUtUqEk"/>
              </a:rPr>
              <a:t> https://youtu.be/BxryBUtUqEk</a:t>
            </a:r>
            <a:r>
              <a:rPr lang="en-US" sz="2000">
                <a:solidFill>
                  <a:srgbClr val="1C1C1C"/>
                </a:solidFill>
                <a:latin typeface="Raleway"/>
                <a:ea typeface="Raleway"/>
                <a:cs typeface="Raleway"/>
                <a:sym typeface="Raleway"/>
              </a:rPr>
              <a:t> </a:t>
            </a:r>
          </a:p>
          <a:p>
            <a:pPr algn="just">
              <a:lnSpc>
                <a:spcPts val="2800"/>
              </a:lnSpc>
              <a:spcBef>
                <a:spcPct val="0"/>
              </a:spcBef>
            </a:pPr>
          </a:p>
          <a:p>
            <a:pPr algn="just">
              <a:lnSpc>
                <a:spcPts val="2800"/>
              </a:lnSpc>
              <a:spcBef>
                <a:spcPct val="0"/>
              </a:spcBef>
            </a:pPr>
            <a:r>
              <a:rPr lang="en-US" sz="2000">
                <a:solidFill>
                  <a:srgbClr val="1C1C1C"/>
                </a:solidFill>
                <a:latin typeface="Raleway"/>
                <a:ea typeface="Raleway"/>
                <a:cs typeface="Raleway"/>
                <a:sym typeface="Raleway"/>
              </a:rPr>
              <a:t>Universitas Budi Luhur. (n.d.). </a:t>
            </a:r>
            <a:r>
              <a:rPr lang="en-US" sz="2000" i="true">
                <a:solidFill>
                  <a:srgbClr val="1C1C1C"/>
                </a:solidFill>
                <a:latin typeface="Raleway Italics"/>
                <a:ea typeface="Raleway Italics"/>
                <a:cs typeface="Raleway Italics"/>
                <a:sym typeface="Raleway Italics"/>
              </a:rPr>
              <a:t>Analisis teks pada media sosial: Preprocessing (Pertemuan 05)</a:t>
            </a:r>
            <a:r>
              <a:rPr lang="en-US" sz="2000">
                <a:solidFill>
                  <a:srgbClr val="1C1C1C"/>
                </a:solidFill>
                <a:latin typeface="Raleway"/>
                <a:ea typeface="Raleway"/>
                <a:cs typeface="Raleway"/>
                <a:sym typeface="Raleway"/>
              </a:rPr>
              <a:t> [Slide presentasi mata kuliah]. Fakultas Teknologi Informasi, Universitas Budi Luhur. </a:t>
            </a:r>
            <a:r>
              <a:rPr lang="en-US" sz="2000" u="sng">
                <a:solidFill>
                  <a:srgbClr val="1C1C1C"/>
                </a:solidFill>
                <a:latin typeface="Raleway"/>
                <a:ea typeface="Raleway"/>
                <a:cs typeface="Raleway"/>
                <a:sym typeface="Raleway"/>
                <a:hlinkClick r:id="rId3" tooltip="https://drive.google.com/file/d/1xpa7Lw0ovgNLO-9yXtv8qU61YWeY8-21/view?usp=sharing"/>
              </a:rPr>
              <a:t>https://drive.google.com/file/d/1xpa7Lw0ovgNLO-9yXtv8qU61YWeY8-21/view?usp=sharing</a:t>
            </a:r>
          </a:p>
          <a:p>
            <a:pPr algn="just">
              <a:lnSpc>
                <a:spcPts val="2800"/>
              </a:lnSpc>
              <a:spcBef>
                <a:spcPct val="0"/>
              </a:spcBef>
            </a:pPr>
          </a:p>
          <a:p>
            <a:pPr algn="just">
              <a:lnSpc>
                <a:spcPts val="2800"/>
              </a:lnSpc>
              <a:spcBef>
                <a:spcPct val="0"/>
              </a:spcBef>
            </a:pPr>
            <a:r>
              <a:rPr lang="en-US" sz="2000">
                <a:solidFill>
                  <a:srgbClr val="1C1C1C"/>
                </a:solidFill>
                <a:latin typeface="Raleway"/>
                <a:ea typeface="Raleway"/>
                <a:cs typeface="Raleway"/>
                <a:sym typeface="Raleway"/>
              </a:rPr>
              <a:t>Wicaksono, A. F. (n.d.). </a:t>
            </a:r>
            <a:r>
              <a:rPr lang="en-US" sz="2000" i="true">
                <a:solidFill>
                  <a:srgbClr val="1C1C1C"/>
                </a:solidFill>
                <a:latin typeface="Raleway Italics"/>
                <a:ea typeface="Raleway Italics"/>
                <a:cs typeface="Raleway Italics"/>
                <a:sym typeface="Raleway Italics"/>
              </a:rPr>
              <a:t>Tutorial Latent Dirichlet Allocation (LDA)</a:t>
            </a:r>
            <a:r>
              <a:rPr lang="en-US" sz="2000">
                <a:solidFill>
                  <a:srgbClr val="1C1C1C"/>
                </a:solidFill>
                <a:latin typeface="Raleway"/>
                <a:ea typeface="Raleway"/>
                <a:cs typeface="Raleway"/>
                <a:sym typeface="Raleway"/>
              </a:rPr>
              <a:t> [PDF]. Pusilkom, Fakultas Ilmu Komputer, Universitas Indonesia. </a:t>
            </a:r>
            <a:r>
              <a:rPr lang="en-US" sz="2000" u="sng">
                <a:solidFill>
                  <a:srgbClr val="1C1C1C"/>
                </a:solidFill>
                <a:latin typeface="Raleway"/>
                <a:ea typeface="Raleway"/>
                <a:cs typeface="Raleway"/>
                <a:sym typeface="Raleway"/>
                <a:hlinkClick r:id="rId4" tooltip="https://drive.google.com/file/d/1Bsk-ziHR94VF8-tm9e0n5zypWmStSEYp/view?usp=sharing"/>
              </a:rPr>
              <a:t>https://drive.google.com/file/d/1Bsk-ziHR94VF8-tm9e0n5zypWmStSEYp/view?usp=sharing</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2EBE3"/>
        </a:solidFill>
      </p:bgPr>
    </p:bg>
    <p:spTree>
      <p:nvGrpSpPr>
        <p:cNvPr id="1" name=""/>
        <p:cNvGrpSpPr/>
        <p:nvPr/>
      </p:nvGrpSpPr>
      <p:grpSpPr>
        <a:xfrm>
          <a:off x="0" y="0"/>
          <a:ext cx="0" cy="0"/>
          <a:chOff x="0" y="0"/>
          <a:chExt cx="0" cy="0"/>
        </a:xfrm>
      </p:grpSpPr>
      <p:grpSp>
        <p:nvGrpSpPr>
          <p:cNvPr name="Group 2" id="2"/>
          <p:cNvGrpSpPr/>
          <p:nvPr/>
        </p:nvGrpSpPr>
        <p:grpSpPr>
          <a:xfrm rot="0">
            <a:off x="1330829" y="2535161"/>
            <a:ext cx="15626343" cy="5216678"/>
            <a:chOff x="0" y="0"/>
            <a:chExt cx="4115580" cy="1373940"/>
          </a:xfrm>
        </p:grpSpPr>
        <p:sp>
          <p:nvSpPr>
            <p:cNvPr name="Freeform 3" id="3"/>
            <p:cNvSpPr/>
            <p:nvPr/>
          </p:nvSpPr>
          <p:spPr>
            <a:xfrm flipH="false" flipV="false" rot="0">
              <a:off x="0" y="0"/>
              <a:ext cx="4115580" cy="1373940"/>
            </a:xfrm>
            <a:custGeom>
              <a:avLst/>
              <a:gdLst/>
              <a:ahLst/>
              <a:cxnLst/>
              <a:rect r="r" b="b" t="t" l="l"/>
              <a:pathLst>
                <a:path h="1373940" w="4115580">
                  <a:moveTo>
                    <a:pt x="0" y="0"/>
                  </a:moveTo>
                  <a:lnTo>
                    <a:pt x="4115580" y="0"/>
                  </a:lnTo>
                  <a:lnTo>
                    <a:pt x="4115580" y="1373940"/>
                  </a:lnTo>
                  <a:lnTo>
                    <a:pt x="0" y="1373940"/>
                  </a:lnTo>
                  <a:close/>
                </a:path>
              </a:pathLst>
            </a:custGeom>
            <a:solidFill>
              <a:srgbClr val="FFFFFF"/>
            </a:solidFill>
          </p:spPr>
        </p:sp>
        <p:sp>
          <p:nvSpPr>
            <p:cNvPr name="TextBox 4" id="4"/>
            <p:cNvSpPr txBox="true"/>
            <p:nvPr/>
          </p:nvSpPr>
          <p:spPr>
            <a:xfrm>
              <a:off x="0" y="19050"/>
              <a:ext cx="4115580" cy="1354890"/>
            </a:xfrm>
            <a:prstGeom prst="rect">
              <a:avLst/>
            </a:prstGeom>
          </p:spPr>
          <p:txBody>
            <a:bodyPr anchor="ctr" rtlCol="false" tIns="50800" lIns="50800" bIns="50800" rIns="50800"/>
            <a:lstStyle/>
            <a:p>
              <a:pPr algn="ctr">
                <a:lnSpc>
                  <a:spcPts val="2674"/>
                </a:lnSpc>
              </a:pPr>
            </a:p>
          </p:txBody>
        </p:sp>
      </p:grpSp>
      <p:sp>
        <p:nvSpPr>
          <p:cNvPr name="TextBox 5" id="5"/>
          <p:cNvSpPr txBox="true"/>
          <p:nvPr/>
        </p:nvSpPr>
        <p:spPr>
          <a:xfrm rot="0">
            <a:off x="1924667" y="3955020"/>
            <a:ext cx="14438667" cy="1749425"/>
          </a:xfrm>
          <a:prstGeom prst="rect">
            <a:avLst/>
          </a:prstGeom>
        </p:spPr>
        <p:txBody>
          <a:bodyPr anchor="t" rtlCol="false" tIns="0" lIns="0" bIns="0" rIns="0">
            <a:spAutoFit/>
          </a:bodyPr>
          <a:lstStyle/>
          <a:p>
            <a:pPr algn="l">
              <a:lnSpc>
                <a:spcPts val="13375"/>
              </a:lnSpc>
              <a:spcBef>
                <a:spcPct val="0"/>
              </a:spcBef>
            </a:pPr>
            <a:r>
              <a:rPr lang="en-US" sz="12500">
                <a:solidFill>
                  <a:srgbClr val="1C1C1C"/>
                </a:solidFill>
                <a:latin typeface="Archivo Black"/>
                <a:ea typeface="Archivo Black"/>
                <a:cs typeface="Archivo Black"/>
                <a:sym typeface="Archivo Black"/>
              </a:rPr>
              <a:t>CRAWLING</a:t>
            </a:r>
          </a:p>
        </p:txBody>
      </p:sp>
      <p:sp>
        <p:nvSpPr>
          <p:cNvPr name="TextBox 6" id="6"/>
          <p:cNvSpPr txBox="true"/>
          <p:nvPr/>
        </p:nvSpPr>
        <p:spPr>
          <a:xfrm rot="0">
            <a:off x="2000867" y="5609196"/>
            <a:ext cx="8834756" cy="355600"/>
          </a:xfrm>
          <a:prstGeom prst="rect">
            <a:avLst/>
          </a:prstGeom>
        </p:spPr>
        <p:txBody>
          <a:bodyPr anchor="t" rtlCol="false" tIns="0" lIns="0" bIns="0" rIns="0">
            <a:spAutoFit/>
          </a:bodyPr>
          <a:lstStyle/>
          <a:p>
            <a:pPr algn="l">
              <a:lnSpc>
                <a:spcPts val="2674"/>
              </a:lnSpc>
              <a:spcBef>
                <a:spcPct val="0"/>
              </a:spcBef>
            </a:pPr>
            <a:r>
              <a:rPr lang="en-US" sz="2499">
                <a:solidFill>
                  <a:srgbClr val="1C1C1C"/>
                </a:solidFill>
                <a:latin typeface="Archivo Black"/>
                <a:ea typeface="Archivo Black"/>
                <a:cs typeface="Archivo Black"/>
                <a:sym typeface="Archivo Black"/>
              </a:rPr>
              <a:t>MENGAMBIL DATA DARI TWITTER / X</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2EBE3"/>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6494689"/>
            <a:chOff x="0" y="0"/>
            <a:chExt cx="4816593" cy="1710535"/>
          </a:xfrm>
        </p:grpSpPr>
        <p:sp>
          <p:nvSpPr>
            <p:cNvPr name="Freeform 3" id="3"/>
            <p:cNvSpPr/>
            <p:nvPr/>
          </p:nvSpPr>
          <p:spPr>
            <a:xfrm flipH="false" flipV="false" rot="0">
              <a:off x="0" y="0"/>
              <a:ext cx="4816592" cy="1710536"/>
            </a:xfrm>
            <a:custGeom>
              <a:avLst/>
              <a:gdLst/>
              <a:ahLst/>
              <a:cxnLst/>
              <a:rect r="r" b="b" t="t" l="l"/>
              <a:pathLst>
                <a:path h="1710536" w="4816592">
                  <a:moveTo>
                    <a:pt x="0" y="0"/>
                  </a:moveTo>
                  <a:lnTo>
                    <a:pt x="4816592" y="0"/>
                  </a:lnTo>
                  <a:lnTo>
                    <a:pt x="4816592" y="1710536"/>
                  </a:lnTo>
                  <a:lnTo>
                    <a:pt x="0" y="1710536"/>
                  </a:lnTo>
                  <a:close/>
                </a:path>
              </a:pathLst>
            </a:custGeom>
            <a:solidFill>
              <a:srgbClr val="1C1C1C"/>
            </a:solidFill>
          </p:spPr>
        </p:sp>
        <p:sp>
          <p:nvSpPr>
            <p:cNvPr name="TextBox 4" id="4"/>
            <p:cNvSpPr txBox="true"/>
            <p:nvPr/>
          </p:nvSpPr>
          <p:spPr>
            <a:xfrm>
              <a:off x="0" y="19050"/>
              <a:ext cx="4816593" cy="1691485"/>
            </a:xfrm>
            <a:prstGeom prst="rect">
              <a:avLst/>
            </a:prstGeom>
          </p:spPr>
          <p:txBody>
            <a:bodyPr anchor="ctr" rtlCol="false" tIns="50800" lIns="50800" bIns="50800" rIns="50800"/>
            <a:lstStyle/>
            <a:p>
              <a:pPr algn="ctr">
                <a:lnSpc>
                  <a:spcPts val="2674"/>
                </a:lnSpc>
              </a:pPr>
            </a:p>
          </p:txBody>
        </p:sp>
      </p:grpSp>
      <p:sp>
        <p:nvSpPr>
          <p:cNvPr name="Freeform 5" id="5"/>
          <p:cNvSpPr/>
          <p:nvPr/>
        </p:nvSpPr>
        <p:spPr>
          <a:xfrm flipH="false" flipV="false" rot="0">
            <a:off x="1761940" y="234542"/>
            <a:ext cx="14764119" cy="6025606"/>
          </a:xfrm>
          <a:custGeom>
            <a:avLst/>
            <a:gdLst/>
            <a:ahLst/>
            <a:cxnLst/>
            <a:rect r="r" b="b" t="t" l="l"/>
            <a:pathLst>
              <a:path h="6025606" w="14764119">
                <a:moveTo>
                  <a:pt x="0" y="0"/>
                </a:moveTo>
                <a:lnTo>
                  <a:pt x="14764120" y="0"/>
                </a:lnTo>
                <a:lnTo>
                  <a:pt x="14764120" y="6025606"/>
                </a:lnTo>
                <a:lnTo>
                  <a:pt x="0" y="6025606"/>
                </a:lnTo>
                <a:lnTo>
                  <a:pt x="0" y="0"/>
                </a:lnTo>
                <a:close/>
              </a:path>
            </a:pathLst>
          </a:custGeom>
          <a:blipFill>
            <a:blip r:embed="rId2"/>
            <a:stretch>
              <a:fillRect l="0" t="0" r="0" b="0"/>
            </a:stretch>
          </a:blipFill>
        </p:spPr>
      </p:sp>
      <p:sp>
        <p:nvSpPr>
          <p:cNvPr name="TextBox 6" id="6"/>
          <p:cNvSpPr txBox="true"/>
          <p:nvPr/>
        </p:nvSpPr>
        <p:spPr>
          <a:xfrm rot="0">
            <a:off x="1028700" y="7298871"/>
            <a:ext cx="9360354" cy="355600"/>
          </a:xfrm>
          <a:prstGeom prst="rect">
            <a:avLst/>
          </a:prstGeom>
        </p:spPr>
        <p:txBody>
          <a:bodyPr anchor="t" rtlCol="false" tIns="0" lIns="0" bIns="0" rIns="0">
            <a:spAutoFit/>
          </a:bodyPr>
          <a:lstStyle/>
          <a:p>
            <a:pPr algn="l">
              <a:lnSpc>
                <a:spcPts val="2674"/>
              </a:lnSpc>
              <a:spcBef>
                <a:spcPct val="0"/>
              </a:spcBef>
            </a:pPr>
            <a:r>
              <a:rPr lang="en-US" sz="2499">
                <a:solidFill>
                  <a:srgbClr val="363636"/>
                </a:solidFill>
                <a:latin typeface="Archivo Black"/>
                <a:ea typeface="Archivo Black"/>
                <a:cs typeface="Archivo Black"/>
                <a:sym typeface="Archivo Black"/>
              </a:rPr>
              <a:t>REQUIREMENTS YANG PERLU DI INSTALL</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2EBE3"/>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6494689"/>
            <a:chOff x="0" y="0"/>
            <a:chExt cx="4816593" cy="1710535"/>
          </a:xfrm>
        </p:grpSpPr>
        <p:sp>
          <p:nvSpPr>
            <p:cNvPr name="Freeform 3" id="3"/>
            <p:cNvSpPr/>
            <p:nvPr/>
          </p:nvSpPr>
          <p:spPr>
            <a:xfrm flipH="false" flipV="false" rot="0">
              <a:off x="0" y="0"/>
              <a:ext cx="4816592" cy="1710536"/>
            </a:xfrm>
            <a:custGeom>
              <a:avLst/>
              <a:gdLst/>
              <a:ahLst/>
              <a:cxnLst/>
              <a:rect r="r" b="b" t="t" l="l"/>
              <a:pathLst>
                <a:path h="1710536" w="4816592">
                  <a:moveTo>
                    <a:pt x="0" y="0"/>
                  </a:moveTo>
                  <a:lnTo>
                    <a:pt x="4816592" y="0"/>
                  </a:lnTo>
                  <a:lnTo>
                    <a:pt x="4816592" y="1710536"/>
                  </a:lnTo>
                  <a:lnTo>
                    <a:pt x="0" y="1710536"/>
                  </a:lnTo>
                  <a:close/>
                </a:path>
              </a:pathLst>
            </a:custGeom>
            <a:solidFill>
              <a:srgbClr val="1C1C1C"/>
            </a:solidFill>
          </p:spPr>
        </p:sp>
        <p:sp>
          <p:nvSpPr>
            <p:cNvPr name="TextBox 4" id="4"/>
            <p:cNvSpPr txBox="true"/>
            <p:nvPr/>
          </p:nvSpPr>
          <p:spPr>
            <a:xfrm>
              <a:off x="0" y="19050"/>
              <a:ext cx="4816593" cy="1691485"/>
            </a:xfrm>
            <a:prstGeom prst="rect">
              <a:avLst/>
            </a:prstGeom>
          </p:spPr>
          <p:txBody>
            <a:bodyPr anchor="ctr" rtlCol="false" tIns="50800" lIns="50800" bIns="50800" rIns="50800"/>
            <a:lstStyle/>
            <a:p>
              <a:pPr algn="ctr">
                <a:lnSpc>
                  <a:spcPts val="2674"/>
                </a:lnSpc>
              </a:pPr>
            </a:p>
          </p:txBody>
        </p:sp>
      </p:grpSp>
      <p:sp>
        <p:nvSpPr>
          <p:cNvPr name="Freeform 5" id="5"/>
          <p:cNvSpPr/>
          <p:nvPr/>
        </p:nvSpPr>
        <p:spPr>
          <a:xfrm flipH="false" flipV="false" rot="0">
            <a:off x="2668582" y="347968"/>
            <a:ext cx="12950835" cy="5798754"/>
          </a:xfrm>
          <a:custGeom>
            <a:avLst/>
            <a:gdLst/>
            <a:ahLst/>
            <a:cxnLst/>
            <a:rect r="r" b="b" t="t" l="l"/>
            <a:pathLst>
              <a:path h="5798754" w="12950835">
                <a:moveTo>
                  <a:pt x="0" y="0"/>
                </a:moveTo>
                <a:lnTo>
                  <a:pt x="12950836" y="0"/>
                </a:lnTo>
                <a:lnTo>
                  <a:pt x="12950836" y="5798753"/>
                </a:lnTo>
                <a:lnTo>
                  <a:pt x="0" y="5798753"/>
                </a:lnTo>
                <a:lnTo>
                  <a:pt x="0" y="0"/>
                </a:lnTo>
                <a:close/>
              </a:path>
            </a:pathLst>
          </a:custGeom>
          <a:blipFill>
            <a:blip r:embed="rId2"/>
            <a:stretch>
              <a:fillRect l="0" t="0" r="0" b="0"/>
            </a:stretch>
          </a:blipFill>
        </p:spPr>
      </p:sp>
      <p:sp>
        <p:nvSpPr>
          <p:cNvPr name="TextBox 6" id="6"/>
          <p:cNvSpPr txBox="true"/>
          <p:nvPr/>
        </p:nvSpPr>
        <p:spPr>
          <a:xfrm rot="0">
            <a:off x="1028700" y="7298871"/>
            <a:ext cx="9360354" cy="355600"/>
          </a:xfrm>
          <a:prstGeom prst="rect">
            <a:avLst/>
          </a:prstGeom>
        </p:spPr>
        <p:txBody>
          <a:bodyPr anchor="t" rtlCol="false" tIns="0" lIns="0" bIns="0" rIns="0">
            <a:spAutoFit/>
          </a:bodyPr>
          <a:lstStyle/>
          <a:p>
            <a:pPr algn="l">
              <a:lnSpc>
                <a:spcPts val="2674"/>
              </a:lnSpc>
              <a:spcBef>
                <a:spcPct val="0"/>
              </a:spcBef>
            </a:pPr>
            <a:r>
              <a:rPr lang="en-US" sz="2499">
                <a:solidFill>
                  <a:srgbClr val="363636"/>
                </a:solidFill>
                <a:latin typeface="Archivo Black"/>
                <a:ea typeface="Archivo Black"/>
                <a:cs typeface="Archivo Black"/>
                <a:sym typeface="Archivo Black"/>
              </a:rPr>
              <a:t>PROSES CRAWLING BERDASARKAN KEYWORD</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2EBE3"/>
        </a:solidFill>
      </p:bgPr>
    </p:bg>
    <p:spTree>
      <p:nvGrpSpPr>
        <p:cNvPr id="1" name=""/>
        <p:cNvGrpSpPr/>
        <p:nvPr/>
      </p:nvGrpSpPr>
      <p:grpSpPr>
        <a:xfrm>
          <a:off x="0" y="0"/>
          <a:ext cx="0" cy="0"/>
          <a:chOff x="0" y="0"/>
          <a:chExt cx="0" cy="0"/>
        </a:xfrm>
      </p:grpSpPr>
      <p:grpSp>
        <p:nvGrpSpPr>
          <p:cNvPr name="Group 2" id="2"/>
          <p:cNvGrpSpPr/>
          <p:nvPr/>
        </p:nvGrpSpPr>
        <p:grpSpPr>
          <a:xfrm rot="0">
            <a:off x="1330829" y="2535161"/>
            <a:ext cx="15626343" cy="5216678"/>
            <a:chOff x="0" y="0"/>
            <a:chExt cx="4115580" cy="1373940"/>
          </a:xfrm>
        </p:grpSpPr>
        <p:sp>
          <p:nvSpPr>
            <p:cNvPr name="Freeform 3" id="3"/>
            <p:cNvSpPr/>
            <p:nvPr/>
          </p:nvSpPr>
          <p:spPr>
            <a:xfrm flipH="false" flipV="false" rot="0">
              <a:off x="0" y="0"/>
              <a:ext cx="4115580" cy="1373940"/>
            </a:xfrm>
            <a:custGeom>
              <a:avLst/>
              <a:gdLst/>
              <a:ahLst/>
              <a:cxnLst/>
              <a:rect r="r" b="b" t="t" l="l"/>
              <a:pathLst>
                <a:path h="1373940" w="4115580">
                  <a:moveTo>
                    <a:pt x="0" y="0"/>
                  </a:moveTo>
                  <a:lnTo>
                    <a:pt x="4115580" y="0"/>
                  </a:lnTo>
                  <a:lnTo>
                    <a:pt x="4115580" y="1373940"/>
                  </a:lnTo>
                  <a:lnTo>
                    <a:pt x="0" y="1373940"/>
                  </a:lnTo>
                  <a:close/>
                </a:path>
              </a:pathLst>
            </a:custGeom>
            <a:solidFill>
              <a:srgbClr val="FFFFFF"/>
            </a:solidFill>
          </p:spPr>
        </p:sp>
        <p:sp>
          <p:nvSpPr>
            <p:cNvPr name="TextBox 4" id="4"/>
            <p:cNvSpPr txBox="true"/>
            <p:nvPr/>
          </p:nvSpPr>
          <p:spPr>
            <a:xfrm>
              <a:off x="0" y="19050"/>
              <a:ext cx="4115580" cy="1354890"/>
            </a:xfrm>
            <a:prstGeom prst="rect">
              <a:avLst/>
            </a:prstGeom>
          </p:spPr>
          <p:txBody>
            <a:bodyPr anchor="ctr" rtlCol="false" tIns="50800" lIns="50800" bIns="50800" rIns="50800"/>
            <a:lstStyle/>
            <a:p>
              <a:pPr algn="ctr">
                <a:lnSpc>
                  <a:spcPts val="2674"/>
                </a:lnSpc>
              </a:pPr>
            </a:p>
          </p:txBody>
        </p:sp>
      </p:grpSp>
      <p:sp>
        <p:nvSpPr>
          <p:cNvPr name="TextBox 5" id="5"/>
          <p:cNvSpPr txBox="true"/>
          <p:nvPr/>
        </p:nvSpPr>
        <p:spPr>
          <a:xfrm rot="0">
            <a:off x="1924667" y="3935970"/>
            <a:ext cx="14438667" cy="1661671"/>
          </a:xfrm>
          <a:prstGeom prst="rect">
            <a:avLst/>
          </a:prstGeom>
        </p:spPr>
        <p:txBody>
          <a:bodyPr anchor="t" rtlCol="false" tIns="0" lIns="0" bIns="0" rIns="0">
            <a:spAutoFit/>
          </a:bodyPr>
          <a:lstStyle/>
          <a:p>
            <a:pPr algn="l">
              <a:lnSpc>
                <a:spcPts val="12626"/>
              </a:lnSpc>
              <a:spcBef>
                <a:spcPct val="0"/>
              </a:spcBef>
            </a:pPr>
            <a:r>
              <a:rPr lang="en-US" sz="11800">
                <a:solidFill>
                  <a:srgbClr val="1C1C1C"/>
                </a:solidFill>
                <a:latin typeface="Archivo Black"/>
                <a:ea typeface="Archivo Black"/>
                <a:cs typeface="Archivo Black"/>
                <a:sym typeface="Archivo Black"/>
              </a:rPr>
              <a:t>PREPROCESSING</a:t>
            </a:r>
          </a:p>
        </p:txBody>
      </p:sp>
      <p:sp>
        <p:nvSpPr>
          <p:cNvPr name="TextBox 6" id="6"/>
          <p:cNvSpPr txBox="true"/>
          <p:nvPr/>
        </p:nvSpPr>
        <p:spPr>
          <a:xfrm rot="0">
            <a:off x="2000867" y="5609196"/>
            <a:ext cx="8834756" cy="355600"/>
          </a:xfrm>
          <a:prstGeom prst="rect">
            <a:avLst/>
          </a:prstGeom>
        </p:spPr>
        <p:txBody>
          <a:bodyPr anchor="t" rtlCol="false" tIns="0" lIns="0" bIns="0" rIns="0">
            <a:spAutoFit/>
          </a:bodyPr>
          <a:lstStyle/>
          <a:p>
            <a:pPr algn="l">
              <a:lnSpc>
                <a:spcPts val="2674"/>
              </a:lnSpc>
              <a:spcBef>
                <a:spcPct val="0"/>
              </a:spcBef>
            </a:pPr>
            <a:r>
              <a:rPr lang="en-US" sz="2499">
                <a:solidFill>
                  <a:srgbClr val="1C1C1C"/>
                </a:solidFill>
                <a:latin typeface="Archivo Black"/>
                <a:ea typeface="Archivo Black"/>
                <a:cs typeface="Archivo Black"/>
                <a:sym typeface="Archivo Black"/>
              </a:rPr>
              <a:t>MELAKUKAN PEMBERSIHAN TEKS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2EBE3"/>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6494689"/>
            <a:chOff x="0" y="0"/>
            <a:chExt cx="4816593" cy="1710535"/>
          </a:xfrm>
        </p:grpSpPr>
        <p:sp>
          <p:nvSpPr>
            <p:cNvPr name="Freeform 3" id="3"/>
            <p:cNvSpPr/>
            <p:nvPr/>
          </p:nvSpPr>
          <p:spPr>
            <a:xfrm flipH="false" flipV="false" rot="0">
              <a:off x="0" y="0"/>
              <a:ext cx="4816592" cy="1710536"/>
            </a:xfrm>
            <a:custGeom>
              <a:avLst/>
              <a:gdLst/>
              <a:ahLst/>
              <a:cxnLst/>
              <a:rect r="r" b="b" t="t" l="l"/>
              <a:pathLst>
                <a:path h="1710536" w="4816592">
                  <a:moveTo>
                    <a:pt x="0" y="0"/>
                  </a:moveTo>
                  <a:lnTo>
                    <a:pt x="4816592" y="0"/>
                  </a:lnTo>
                  <a:lnTo>
                    <a:pt x="4816592" y="1710536"/>
                  </a:lnTo>
                  <a:lnTo>
                    <a:pt x="0" y="1710536"/>
                  </a:lnTo>
                  <a:close/>
                </a:path>
              </a:pathLst>
            </a:custGeom>
            <a:solidFill>
              <a:srgbClr val="1C1C1C"/>
            </a:solidFill>
          </p:spPr>
        </p:sp>
        <p:sp>
          <p:nvSpPr>
            <p:cNvPr name="TextBox 4" id="4"/>
            <p:cNvSpPr txBox="true"/>
            <p:nvPr/>
          </p:nvSpPr>
          <p:spPr>
            <a:xfrm>
              <a:off x="0" y="19050"/>
              <a:ext cx="4816593" cy="1691485"/>
            </a:xfrm>
            <a:prstGeom prst="rect">
              <a:avLst/>
            </a:prstGeom>
          </p:spPr>
          <p:txBody>
            <a:bodyPr anchor="ctr" rtlCol="false" tIns="50800" lIns="50800" bIns="50800" rIns="50800"/>
            <a:lstStyle/>
            <a:p>
              <a:pPr algn="ctr">
                <a:lnSpc>
                  <a:spcPts val="2674"/>
                </a:lnSpc>
              </a:pPr>
            </a:p>
          </p:txBody>
        </p:sp>
      </p:grpSp>
      <p:sp>
        <p:nvSpPr>
          <p:cNvPr name="Freeform 5" id="5"/>
          <p:cNvSpPr/>
          <p:nvPr/>
        </p:nvSpPr>
        <p:spPr>
          <a:xfrm flipH="false" flipV="false" rot="0">
            <a:off x="3452132" y="182847"/>
            <a:ext cx="11383736" cy="6128996"/>
          </a:xfrm>
          <a:custGeom>
            <a:avLst/>
            <a:gdLst/>
            <a:ahLst/>
            <a:cxnLst/>
            <a:rect r="r" b="b" t="t" l="l"/>
            <a:pathLst>
              <a:path h="6128996" w="11383736">
                <a:moveTo>
                  <a:pt x="0" y="0"/>
                </a:moveTo>
                <a:lnTo>
                  <a:pt x="11383736" y="0"/>
                </a:lnTo>
                <a:lnTo>
                  <a:pt x="11383736" y="6128996"/>
                </a:lnTo>
                <a:lnTo>
                  <a:pt x="0" y="6128996"/>
                </a:lnTo>
                <a:lnTo>
                  <a:pt x="0" y="0"/>
                </a:lnTo>
                <a:close/>
              </a:path>
            </a:pathLst>
          </a:custGeom>
          <a:blipFill>
            <a:blip r:embed="rId2"/>
            <a:stretch>
              <a:fillRect l="0" t="0" r="0" b="0"/>
            </a:stretch>
          </a:blipFill>
        </p:spPr>
      </p:sp>
      <p:sp>
        <p:nvSpPr>
          <p:cNvPr name="TextBox 6" id="6"/>
          <p:cNvSpPr txBox="true"/>
          <p:nvPr/>
        </p:nvSpPr>
        <p:spPr>
          <a:xfrm rot="0">
            <a:off x="1028700" y="7298871"/>
            <a:ext cx="9360354" cy="355600"/>
          </a:xfrm>
          <a:prstGeom prst="rect">
            <a:avLst/>
          </a:prstGeom>
        </p:spPr>
        <p:txBody>
          <a:bodyPr anchor="t" rtlCol="false" tIns="0" lIns="0" bIns="0" rIns="0">
            <a:spAutoFit/>
          </a:bodyPr>
          <a:lstStyle/>
          <a:p>
            <a:pPr algn="l">
              <a:lnSpc>
                <a:spcPts val="2674"/>
              </a:lnSpc>
              <a:spcBef>
                <a:spcPct val="0"/>
              </a:spcBef>
            </a:pPr>
            <a:r>
              <a:rPr lang="en-US" sz="2499">
                <a:solidFill>
                  <a:srgbClr val="363636"/>
                </a:solidFill>
                <a:latin typeface="Archivo Black"/>
                <a:ea typeface="Archivo Black"/>
                <a:cs typeface="Archivo Black"/>
                <a:sym typeface="Archivo Black"/>
              </a:rPr>
              <a:t>INSTALL LIBRARY YANG DIBUTUHKAN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2EBE3"/>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6494689"/>
            <a:chOff x="0" y="0"/>
            <a:chExt cx="4816593" cy="1710535"/>
          </a:xfrm>
        </p:grpSpPr>
        <p:sp>
          <p:nvSpPr>
            <p:cNvPr name="Freeform 3" id="3"/>
            <p:cNvSpPr/>
            <p:nvPr/>
          </p:nvSpPr>
          <p:spPr>
            <a:xfrm flipH="false" flipV="false" rot="0">
              <a:off x="0" y="0"/>
              <a:ext cx="4816592" cy="1710536"/>
            </a:xfrm>
            <a:custGeom>
              <a:avLst/>
              <a:gdLst/>
              <a:ahLst/>
              <a:cxnLst/>
              <a:rect r="r" b="b" t="t" l="l"/>
              <a:pathLst>
                <a:path h="1710536" w="4816592">
                  <a:moveTo>
                    <a:pt x="0" y="0"/>
                  </a:moveTo>
                  <a:lnTo>
                    <a:pt x="4816592" y="0"/>
                  </a:lnTo>
                  <a:lnTo>
                    <a:pt x="4816592" y="1710536"/>
                  </a:lnTo>
                  <a:lnTo>
                    <a:pt x="0" y="1710536"/>
                  </a:lnTo>
                  <a:close/>
                </a:path>
              </a:pathLst>
            </a:custGeom>
            <a:solidFill>
              <a:srgbClr val="1C1C1C"/>
            </a:solidFill>
          </p:spPr>
        </p:sp>
        <p:sp>
          <p:nvSpPr>
            <p:cNvPr name="TextBox 4" id="4"/>
            <p:cNvSpPr txBox="true"/>
            <p:nvPr/>
          </p:nvSpPr>
          <p:spPr>
            <a:xfrm>
              <a:off x="0" y="19050"/>
              <a:ext cx="4816593" cy="1691485"/>
            </a:xfrm>
            <a:prstGeom prst="rect">
              <a:avLst/>
            </a:prstGeom>
          </p:spPr>
          <p:txBody>
            <a:bodyPr anchor="ctr" rtlCol="false" tIns="50800" lIns="50800" bIns="50800" rIns="50800"/>
            <a:lstStyle/>
            <a:p>
              <a:pPr algn="ctr">
                <a:lnSpc>
                  <a:spcPts val="2674"/>
                </a:lnSpc>
              </a:pPr>
            </a:p>
          </p:txBody>
        </p:sp>
      </p:grpSp>
      <p:sp>
        <p:nvSpPr>
          <p:cNvPr name="Freeform 5" id="5"/>
          <p:cNvSpPr/>
          <p:nvPr/>
        </p:nvSpPr>
        <p:spPr>
          <a:xfrm flipH="false" flipV="false" rot="0">
            <a:off x="2784616" y="190037"/>
            <a:ext cx="12718767" cy="6114614"/>
          </a:xfrm>
          <a:custGeom>
            <a:avLst/>
            <a:gdLst/>
            <a:ahLst/>
            <a:cxnLst/>
            <a:rect r="r" b="b" t="t" l="l"/>
            <a:pathLst>
              <a:path h="6114614" w="12718767">
                <a:moveTo>
                  <a:pt x="0" y="0"/>
                </a:moveTo>
                <a:lnTo>
                  <a:pt x="12718768" y="0"/>
                </a:lnTo>
                <a:lnTo>
                  <a:pt x="12718768" y="6114615"/>
                </a:lnTo>
                <a:lnTo>
                  <a:pt x="0" y="6114615"/>
                </a:lnTo>
                <a:lnTo>
                  <a:pt x="0" y="0"/>
                </a:lnTo>
                <a:close/>
              </a:path>
            </a:pathLst>
          </a:custGeom>
          <a:blipFill>
            <a:blip r:embed="rId2"/>
            <a:stretch>
              <a:fillRect l="0" t="0" r="0" b="0"/>
            </a:stretch>
          </a:blipFill>
        </p:spPr>
      </p:sp>
      <p:sp>
        <p:nvSpPr>
          <p:cNvPr name="TextBox 6" id="6"/>
          <p:cNvSpPr txBox="true"/>
          <p:nvPr/>
        </p:nvSpPr>
        <p:spPr>
          <a:xfrm rot="0">
            <a:off x="1028700" y="7298871"/>
            <a:ext cx="9360354" cy="355600"/>
          </a:xfrm>
          <a:prstGeom prst="rect">
            <a:avLst/>
          </a:prstGeom>
        </p:spPr>
        <p:txBody>
          <a:bodyPr anchor="t" rtlCol="false" tIns="0" lIns="0" bIns="0" rIns="0">
            <a:spAutoFit/>
          </a:bodyPr>
          <a:lstStyle/>
          <a:p>
            <a:pPr algn="l">
              <a:lnSpc>
                <a:spcPts val="2674"/>
              </a:lnSpc>
              <a:spcBef>
                <a:spcPct val="0"/>
              </a:spcBef>
            </a:pPr>
            <a:r>
              <a:rPr lang="en-US" sz="2499">
                <a:solidFill>
                  <a:srgbClr val="363636"/>
                </a:solidFill>
                <a:latin typeface="Archivo Black"/>
                <a:ea typeface="Archivo Black"/>
                <a:cs typeface="Archivo Black"/>
                <a:sym typeface="Archivo Black"/>
              </a:rPr>
              <a:t>AMBIL FILE DATASET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2EBE3"/>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6494689"/>
            <a:chOff x="0" y="0"/>
            <a:chExt cx="4816593" cy="1710535"/>
          </a:xfrm>
        </p:grpSpPr>
        <p:sp>
          <p:nvSpPr>
            <p:cNvPr name="Freeform 3" id="3"/>
            <p:cNvSpPr/>
            <p:nvPr/>
          </p:nvSpPr>
          <p:spPr>
            <a:xfrm flipH="false" flipV="false" rot="0">
              <a:off x="0" y="0"/>
              <a:ext cx="4816592" cy="1710536"/>
            </a:xfrm>
            <a:custGeom>
              <a:avLst/>
              <a:gdLst/>
              <a:ahLst/>
              <a:cxnLst/>
              <a:rect r="r" b="b" t="t" l="l"/>
              <a:pathLst>
                <a:path h="1710536" w="4816592">
                  <a:moveTo>
                    <a:pt x="0" y="0"/>
                  </a:moveTo>
                  <a:lnTo>
                    <a:pt x="4816592" y="0"/>
                  </a:lnTo>
                  <a:lnTo>
                    <a:pt x="4816592" y="1710536"/>
                  </a:lnTo>
                  <a:lnTo>
                    <a:pt x="0" y="1710536"/>
                  </a:lnTo>
                  <a:close/>
                </a:path>
              </a:pathLst>
            </a:custGeom>
            <a:solidFill>
              <a:srgbClr val="1C1C1C"/>
            </a:solidFill>
          </p:spPr>
        </p:sp>
        <p:sp>
          <p:nvSpPr>
            <p:cNvPr name="TextBox 4" id="4"/>
            <p:cNvSpPr txBox="true"/>
            <p:nvPr/>
          </p:nvSpPr>
          <p:spPr>
            <a:xfrm>
              <a:off x="0" y="19050"/>
              <a:ext cx="4816593" cy="1691485"/>
            </a:xfrm>
            <a:prstGeom prst="rect">
              <a:avLst/>
            </a:prstGeom>
          </p:spPr>
          <p:txBody>
            <a:bodyPr anchor="ctr" rtlCol="false" tIns="50800" lIns="50800" bIns="50800" rIns="50800"/>
            <a:lstStyle/>
            <a:p>
              <a:pPr algn="ctr">
                <a:lnSpc>
                  <a:spcPts val="2674"/>
                </a:lnSpc>
              </a:pPr>
            </a:p>
          </p:txBody>
        </p:sp>
      </p:grpSp>
      <p:sp>
        <p:nvSpPr>
          <p:cNvPr name="Freeform 5" id="5"/>
          <p:cNvSpPr/>
          <p:nvPr/>
        </p:nvSpPr>
        <p:spPr>
          <a:xfrm flipH="false" flipV="false" rot="0">
            <a:off x="2938333" y="141974"/>
            <a:ext cx="12411335" cy="6210741"/>
          </a:xfrm>
          <a:custGeom>
            <a:avLst/>
            <a:gdLst/>
            <a:ahLst/>
            <a:cxnLst/>
            <a:rect r="r" b="b" t="t" l="l"/>
            <a:pathLst>
              <a:path h="6210741" w="12411335">
                <a:moveTo>
                  <a:pt x="0" y="0"/>
                </a:moveTo>
                <a:lnTo>
                  <a:pt x="12411334" y="0"/>
                </a:lnTo>
                <a:lnTo>
                  <a:pt x="12411334" y="6210741"/>
                </a:lnTo>
                <a:lnTo>
                  <a:pt x="0" y="6210741"/>
                </a:lnTo>
                <a:lnTo>
                  <a:pt x="0" y="0"/>
                </a:lnTo>
                <a:close/>
              </a:path>
            </a:pathLst>
          </a:custGeom>
          <a:blipFill>
            <a:blip r:embed="rId2"/>
            <a:stretch>
              <a:fillRect l="0" t="0" r="0" b="0"/>
            </a:stretch>
          </a:blipFill>
        </p:spPr>
      </p:sp>
      <p:sp>
        <p:nvSpPr>
          <p:cNvPr name="TextBox 6" id="6"/>
          <p:cNvSpPr txBox="true"/>
          <p:nvPr/>
        </p:nvSpPr>
        <p:spPr>
          <a:xfrm rot="0">
            <a:off x="1028700" y="7298871"/>
            <a:ext cx="9360354" cy="688975"/>
          </a:xfrm>
          <a:prstGeom prst="rect">
            <a:avLst/>
          </a:prstGeom>
        </p:spPr>
        <p:txBody>
          <a:bodyPr anchor="t" rtlCol="false" tIns="0" lIns="0" bIns="0" rIns="0">
            <a:spAutoFit/>
          </a:bodyPr>
          <a:lstStyle/>
          <a:p>
            <a:pPr algn="l">
              <a:lnSpc>
                <a:spcPts val="2674"/>
              </a:lnSpc>
            </a:pPr>
            <a:r>
              <a:rPr lang="en-US" sz="2499">
                <a:solidFill>
                  <a:srgbClr val="363636"/>
                </a:solidFill>
                <a:latin typeface="Archivo Black"/>
                <a:ea typeface="Archivo Black"/>
                <a:cs typeface="Archivo Black"/>
                <a:sym typeface="Archivo Black"/>
              </a:rPr>
              <a:t>PROSES PEMBERSIHAN TEKS PERTAMA:</a:t>
            </a:r>
          </a:p>
          <a:p>
            <a:pPr algn="l">
              <a:lnSpc>
                <a:spcPts val="2674"/>
              </a:lnSpc>
              <a:spcBef>
                <a:spcPct val="0"/>
              </a:spcBef>
            </a:pPr>
            <a:r>
              <a:rPr lang="en-US" sz="2499">
                <a:solidFill>
                  <a:srgbClr val="363636"/>
                </a:solidFill>
                <a:latin typeface="Archivo Black"/>
                <a:ea typeface="Archivo Black"/>
                <a:cs typeface="Archivo Black"/>
                <a:sym typeface="Archivo Black"/>
              </a:rPr>
              <a:t>MEMBUAT KAMUS ALAY UNTUK DITERJEMAHKAN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2EBE3"/>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6494689"/>
            <a:chOff x="0" y="0"/>
            <a:chExt cx="4816593" cy="1710535"/>
          </a:xfrm>
        </p:grpSpPr>
        <p:sp>
          <p:nvSpPr>
            <p:cNvPr name="Freeform 3" id="3"/>
            <p:cNvSpPr/>
            <p:nvPr/>
          </p:nvSpPr>
          <p:spPr>
            <a:xfrm flipH="false" flipV="false" rot="0">
              <a:off x="0" y="0"/>
              <a:ext cx="4816592" cy="1710536"/>
            </a:xfrm>
            <a:custGeom>
              <a:avLst/>
              <a:gdLst/>
              <a:ahLst/>
              <a:cxnLst/>
              <a:rect r="r" b="b" t="t" l="l"/>
              <a:pathLst>
                <a:path h="1710536" w="4816592">
                  <a:moveTo>
                    <a:pt x="0" y="0"/>
                  </a:moveTo>
                  <a:lnTo>
                    <a:pt x="4816592" y="0"/>
                  </a:lnTo>
                  <a:lnTo>
                    <a:pt x="4816592" y="1710536"/>
                  </a:lnTo>
                  <a:lnTo>
                    <a:pt x="0" y="1710536"/>
                  </a:lnTo>
                  <a:close/>
                </a:path>
              </a:pathLst>
            </a:custGeom>
            <a:solidFill>
              <a:srgbClr val="1C1C1C"/>
            </a:solidFill>
          </p:spPr>
        </p:sp>
        <p:sp>
          <p:nvSpPr>
            <p:cNvPr name="TextBox 4" id="4"/>
            <p:cNvSpPr txBox="true"/>
            <p:nvPr/>
          </p:nvSpPr>
          <p:spPr>
            <a:xfrm>
              <a:off x="0" y="19050"/>
              <a:ext cx="4816593" cy="1691485"/>
            </a:xfrm>
            <a:prstGeom prst="rect">
              <a:avLst/>
            </a:prstGeom>
          </p:spPr>
          <p:txBody>
            <a:bodyPr anchor="ctr" rtlCol="false" tIns="50800" lIns="50800" bIns="50800" rIns="50800"/>
            <a:lstStyle/>
            <a:p>
              <a:pPr algn="ctr">
                <a:lnSpc>
                  <a:spcPts val="2674"/>
                </a:lnSpc>
              </a:pPr>
            </a:p>
          </p:txBody>
        </p:sp>
      </p:grpSp>
      <p:sp>
        <p:nvSpPr>
          <p:cNvPr name="Freeform 5" id="5"/>
          <p:cNvSpPr/>
          <p:nvPr/>
        </p:nvSpPr>
        <p:spPr>
          <a:xfrm flipH="false" flipV="false" rot="0">
            <a:off x="3473247" y="81724"/>
            <a:ext cx="11341507" cy="6331240"/>
          </a:xfrm>
          <a:custGeom>
            <a:avLst/>
            <a:gdLst/>
            <a:ahLst/>
            <a:cxnLst/>
            <a:rect r="r" b="b" t="t" l="l"/>
            <a:pathLst>
              <a:path h="6331240" w="11341507">
                <a:moveTo>
                  <a:pt x="0" y="0"/>
                </a:moveTo>
                <a:lnTo>
                  <a:pt x="11341506" y="0"/>
                </a:lnTo>
                <a:lnTo>
                  <a:pt x="11341506" y="6331241"/>
                </a:lnTo>
                <a:lnTo>
                  <a:pt x="0" y="6331241"/>
                </a:lnTo>
                <a:lnTo>
                  <a:pt x="0" y="0"/>
                </a:lnTo>
                <a:close/>
              </a:path>
            </a:pathLst>
          </a:custGeom>
          <a:blipFill>
            <a:blip r:embed="rId2"/>
            <a:stretch>
              <a:fillRect l="0" t="0" r="0" b="0"/>
            </a:stretch>
          </a:blipFill>
        </p:spPr>
      </p:sp>
      <p:sp>
        <p:nvSpPr>
          <p:cNvPr name="TextBox 6" id="6"/>
          <p:cNvSpPr txBox="true"/>
          <p:nvPr/>
        </p:nvSpPr>
        <p:spPr>
          <a:xfrm rot="0">
            <a:off x="1028700" y="7298871"/>
            <a:ext cx="16230600" cy="1022350"/>
          </a:xfrm>
          <a:prstGeom prst="rect">
            <a:avLst/>
          </a:prstGeom>
        </p:spPr>
        <p:txBody>
          <a:bodyPr anchor="t" rtlCol="false" tIns="0" lIns="0" bIns="0" rIns="0">
            <a:spAutoFit/>
          </a:bodyPr>
          <a:lstStyle/>
          <a:p>
            <a:pPr algn="l">
              <a:lnSpc>
                <a:spcPts val="2674"/>
              </a:lnSpc>
            </a:pPr>
            <a:r>
              <a:rPr lang="en-US" sz="2499">
                <a:solidFill>
                  <a:srgbClr val="363636"/>
                </a:solidFill>
                <a:latin typeface="Archivo Black"/>
                <a:ea typeface="Archivo Black"/>
                <a:cs typeface="Archivo Black"/>
                <a:sym typeface="Archivo Black"/>
              </a:rPr>
              <a:t>PROSES PEMBERSIHAN TEKS KEDUA:</a:t>
            </a:r>
          </a:p>
          <a:p>
            <a:pPr algn="l">
              <a:lnSpc>
                <a:spcPts val="2674"/>
              </a:lnSpc>
              <a:spcBef>
                <a:spcPct val="0"/>
              </a:spcBef>
            </a:pPr>
            <a:r>
              <a:rPr lang="en-US" sz="2499">
                <a:solidFill>
                  <a:srgbClr val="363636"/>
                </a:solidFill>
                <a:latin typeface="Archivo Black"/>
                <a:ea typeface="Archivo Black"/>
                <a:cs typeface="Archivo Black"/>
                <a:sym typeface="Archivo Black"/>
              </a:rPr>
              <a:t>MENGGABUNGKAN DUA TEKS YANG MEMILIKI MAKNA YANG SAMA, ATAU SALING TERHUBUNG</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2EBE3"/>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6494689"/>
            <a:chOff x="0" y="0"/>
            <a:chExt cx="4816593" cy="1710535"/>
          </a:xfrm>
        </p:grpSpPr>
        <p:sp>
          <p:nvSpPr>
            <p:cNvPr name="Freeform 3" id="3"/>
            <p:cNvSpPr/>
            <p:nvPr/>
          </p:nvSpPr>
          <p:spPr>
            <a:xfrm flipH="false" flipV="false" rot="0">
              <a:off x="0" y="0"/>
              <a:ext cx="4816592" cy="1710536"/>
            </a:xfrm>
            <a:custGeom>
              <a:avLst/>
              <a:gdLst/>
              <a:ahLst/>
              <a:cxnLst/>
              <a:rect r="r" b="b" t="t" l="l"/>
              <a:pathLst>
                <a:path h="1710536" w="4816592">
                  <a:moveTo>
                    <a:pt x="0" y="0"/>
                  </a:moveTo>
                  <a:lnTo>
                    <a:pt x="4816592" y="0"/>
                  </a:lnTo>
                  <a:lnTo>
                    <a:pt x="4816592" y="1710536"/>
                  </a:lnTo>
                  <a:lnTo>
                    <a:pt x="0" y="1710536"/>
                  </a:lnTo>
                  <a:close/>
                </a:path>
              </a:pathLst>
            </a:custGeom>
            <a:solidFill>
              <a:srgbClr val="1C1C1C"/>
            </a:solidFill>
          </p:spPr>
        </p:sp>
        <p:sp>
          <p:nvSpPr>
            <p:cNvPr name="TextBox 4" id="4"/>
            <p:cNvSpPr txBox="true"/>
            <p:nvPr/>
          </p:nvSpPr>
          <p:spPr>
            <a:xfrm>
              <a:off x="0" y="19050"/>
              <a:ext cx="4816593" cy="1691485"/>
            </a:xfrm>
            <a:prstGeom prst="rect">
              <a:avLst/>
            </a:prstGeom>
          </p:spPr>
          <p:txBody>
            <a:bodyPr anchor="ctr" rtlCol="false" tIns="50800" lIns="50800" bIns="50800" rIns="50800"/>
            <a:lstStyle/>
            <a:p>
              <a:pPr algn="ctr">
                <a:lnSpc>
                  <a:spcPts val="2674"/>
                </a:lnSpc>
              </a:pPr>
            </a:p>
          </p:txBody>
        </p:sp>
      </p:grpSp>
      <p:sp>
        <p:nvSpPr>
          <p:cNvPr name="Freeform 5" id="5"/>
          <p:cNvSpPr/>
          <p:nvPr/>
        </p:nvSpPr>
        <p:spPr>
          <a:xfrm flipH="false" flipV="false" rot="0">
            <a:off x="4314830" y="136451"/>
            <a:ext cx="9658340" cy="6221788"/>
          </a:xfrm>
          <a:custGeom>
            <a:avLst/>
            <a:gdLst/>
            <a:ahLst/>
            <a:cxnLst/>
            <a:rect r="r" b="b" t="t" l="l"/>
            <a:pathLst>
              <a:path h="6221788" w="9658340">
                <a:moveTo>
                  <a:pt x="0" y="0"/>
                </a:moveTo>
                <a:lnTo>
                  <a:pt x="9658340" y="0"/>
                </a:lnTo>
                <a:lnTo>
                  <a:pt x="9658340" y="6221788"/>
                </a:lnTo>
                <a:lnTo>
                  <a:pt x="0" y="6221788"/>
                </a:lnTo>
                <a:lnTo>
                  <a:pt x="0" y="0"/>
                </a:lnTo>
                <a:close/>
              </a:path>
            </a:pathLst>
          </a:custGeom>
          <a:blipFill>
            <a:blip r:embed="rId2"/>
            <a:stretch>
              <a:fillRect l="0" t="0" r="0" b="0"/>
            </a:stretch>
          </a:blipFill>
        </p:spPr>
      </p:sp>
      <p:sp>
        <p:nvSpPr>
          <p:cNvPr name="TextBox 6" id="6"/>
          <p:cNvSpPr txBox="true"/>
          <p:nvPr/>
        </p:nvSpPr>
        <p:spPr>
          <a:xfrm rot="0">
            <a:off x="1028700" y="7298871"/>
            <a:ext cx="16230600" cy="1689100"/>
          </a:xfrm>
          <a:prstGeom prst="rect">
            <a:avLst/>
          </a:prstGeom>
        </p:spPr>
        <p:txBody>
          <a:bodyPr anchor="t" rtlCol="false" tIns="0" lIns="0" bIns="0" rIns="0">
            <a:spAutoFit/>
          </a:bodyPr>
          <a:lstStyle/>
          <a:p>
            <a:pPr algn="l">
              <a:lnSpc>
                <a:spcPts val="2674"/>
              </a:lnSpc>
            </a:pPr>
            <a:r>
              <a:rPr lang="en-US" sz="2499">
                <a:solidFill>
                  <a:srgbClr val="363636"/>
                </a:solidFill>
                <a:latin typeface="Archivo Black"/>
                <a:ea typeface="Archivo Black"/>
                <a:cs typeface="Archivo Black"/>
                <a:sym typeface="Archivo Black"/>
              </a:rPr>
              <a:t>PROSES PEMBERSIHAN TEKS KETIGA:</a:t>
            </a:r>
          </a:p>
          <a:p>
            <a:pPr algn="l">
              <a:lnSpc>
                <a:spcPts val="2674"/>
              </a:lnSpc>
              <a:spcBef>
                <a:spcPct val="0"/>
              </a:spcBef>
            </a:pPr>
            <a:r>
              <a:rPr lang="en-US" sz="2499">
                <a:solidFill>
                  <a:srgbClr val="363636"/>
                </a:solidFill>
                <a:latin typeface="Archivo Black"/>
                <a:ea typeface="Archivo Black"/>
                <a:cs typeface="Archivo Black"/>
                <a:sym typeface="Archivo Black"/>
              </a:rPr>
              <a:t>JADIKAN SEMUA TEKS MENJADI LOWER, MENGHAPUS URL, MENGHAPUS MENTION, MENGHAPUS HASTAG, MENGHAPUS KARAKTER SPESIAL, MENGHAPUS EMOJI; MEMISAHKAN TEKS, MENERJEMAHKAN TEKS ALAY BERDASARKAN KAMUS ALAY, TOKENISASI, MEMOTONG TEKS YANG BERULANG (PANJANG).</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2EBE3"/>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6494689"/>
            <a:chOff x="0" y="0"/>
            <a:chExt cx="4816593" cy="1710535"/>
          </a:xfrm>
        </p:grpSpPr>
        <p:sp>
          <p:nvSpPr>
            <p:cNvPr name="Freeform 3" id="3"/>
            <p:cNvSpPr/>
            <p:nvPr/>
          </p:nvSpPr>
          <p:spPr>
            <a:xfrm flipH="false" flipV="false" rot="0">
              <a:off x="0" y="0"/>
              <a:ext cx="4816592" cy="1710536"/>
            </a:xfrm>
            <a:custGeom>
              <a:avLst/>
              <a:gdLst/>
              <a:ahLst/>
              <a:cxnLst/>
              <a:rect r="r" b="b" t="t" l="l"/>
              <a:pathLst>
                <a:path h="1710536" w="4816592">
                  <a:moveTo>
                    <a:pt x="0" y="0"/>
                  </a:moveTo>
                  <a:lnTo>
                    <a:pt x="4816592" y="0"/>
                  </a:lnTo>
                  <a:lnTo>
                    <a:pt x="4816592" y="1710536"/>
                  </a:lnTo>
                  <a:lnTo>
                    <a:pt x="0" y="1710536"/>
                  </a:lnTo>
                  <a:close/>
                </a:path>
              </a:pathLst>
            </a:custGeom>
            <a:solidFill>
              <a:srgbClr val="1C1C1C"/>
            </a:solidFill>
          </p:spPr>
        </p:sp>
        <p:sp>
          <p:nvSpPr>
            <p:cNvPr name="TextBox 4" id="4"/>
            <p:cNvSpPr txBox="true"/>
            <p:nvPr/>
          </p:nvSpPr>
          <p:spPr>
            <a:xfrm>
              <a:off x="0" y="19050"/>
              <a:ext cx="4816593" cy="1691485"/>
            </a:xfrm>
            <a:prstGeom prst="rect">
              <a:avLst/>
            </a:prstGeom>
          </p:spPr>
          <p:txBody>
            <a:bodyPr anchor="ctr" rtlCol="false" tIns="50800" lIns="50800" bIns="50800" rIns="50800"/>
            <a:lstStyle/>
            <a:p>
              <a:pPr algn="ctr">
                <a:lnSpc>
                  <a:spcPts val="2674"/>
                </a:lnSpc>
              </a:pPr>
            </a:p>
          </p:txBody>
        </p:sp>
      </p:grpSp>
      <p:sp>
        <p:nvSpPr>
          <p:cNvPr name="Freeform 5" id="5"/>
          <p:cNvSpPr/>
          <p:nvPr/>
        </p:nvSpPr>
        <p:spPr>
          <a:xfrm flipH="false" flipV="false" rot="0">
            <a:off x="4402841" y="348115"/>
            <a:ext cx="9482319" cy="5798460"/>
          </a:xfrm>
          <a:custGeom>
            <a:avLst/>
            <a:gdLst/>
            <a:ahLst/>
            <a:cxnLst/>
            <a:rect r="r" b="b" t="t" l="l"/>
            <a:pathLst>
              <a:path h="5798460" w="9482319">
                <a:moveTo>
                  <a:pt x="0" y="0"/>
                </a:moveTo>
                <a:lnTo>
                  <a:pt x="9482318" y="0"/>
                </a:lnTo>
                <a:lnTo>
                  <a:pt x="9482318" y="5798460"/>
                </a:lnTo>
                <a:lnTo>
                  <a:pt x="0" y="5798460"/>
                </a:lnTo>
                <a:lnTo>
                  <a:pt x="0" y="0"/>
                </a:lnTo>
                <a:close/>
              </a:path>
            </a:pathLst>
          </a:custGeom>
          <a:blipFill>
            <a:blip r:embed="rId2"/>
            <a:stretch>
              <a:fillRect l="0" t="0" r="0" b="0"/>
            </a:stretch>
          </a:blipFill>
        </p:spPr>
      </p:sp>
      <p:sp>
        <p:nvSpPr>
          <p:cNvPr name="TextBox 6" id="6"/>
          <p:cNvSpPr txBox="true"/>
          <p:nvPr/>
        </p:nvSpPr>
        <p:spPr>
          <a:xfrm rot="0">
            <a:off x="1028700" y="7298871"/>
            <a:ext cx="16230600" cy="1022350"/>
          </a:xfrm>
          <a:prstGeom prst="rect">
            <a:avLst/>
          </a:prstGeom>
        </p:spPr>
        <p:txBody>
          <a:bodyPr anchor="t" rtlCol="false" tIns="0" lIns="0" bIns="0" rIns="0">
            <a:spAutoFit/>
          </a:bodyPr>
          <a:lstStyle/>
          <a:p>
            <a:pPr algn="l">
              <a:lnSpc>
                <a:spcPts val="2674"/>
              </a:lnSpc>
            </a:pPr>
            <a:r>
              <a:rPr lang="en-US" sz="2499">
                <a:solidFill>
                  <a:srgbClr val="363636"/>
                </a:solidFill>
                <a:latin typeface="Archivo Black"/>
                <a:ea typeface="Archivo Black"/>
                <a:cs typeface="Archivo Black"/>
                <a:sym typeface="Archivo Black"/>
              </a:rPr>
              <a:t>PROSES PEMBERSIHAN TEKS KEEMPAT:</a:t>
            </a:r>
          </a:p>
          <a:p>
            <a:pPr algn="l">
              <a:lnSpc>
                <a:spcPts val="2674"/>
              </a:lnSpc>
              <a:spcBef>
                <a:spcPct val="0"/>
              </a:spcBef>
            </a:pPr>
            <a:r>
              <a:rPr lang="en-US" sz="2499">
                <a:solidFill>
                  <a:srgbClr val="363636"/>
                </a:solidFill>
                <a:latin typeface="Archivo Black"/>
                <a:ea typeface="Archivo Black"/>
                <a:cs typeface="Archivo Black"/>
                <a:sym typeface="Archivo Black"/>
              </a:rPr>
              <a:t>MEMBERIKAN KUSTOM STOPWORD, PERBARUI STOPWORD, BERSIHKAN STOPWORD DARI TOKEN, MENGAMBIL INTI TEKS (STEMMING) DARI TOKEN.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2EBE3"/>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6494689"/>
            <a:chOff x="0" y="0"/>
            <a:chExt cx="4816593" cy="1710535"/>
          </a:xfrm>
        </p:grpSpPr>
        <p:sp>
          <p:nvSpPr>
            <p:cNvPr name="Freeform 3" id="3"/>
            <p:cNvSpPr/>
            <p:nvPr/>
          </p:nvSpPr>
          <p:spPr>
            <a:xfrm flipH="false" flipV="false" rot="0">
              <a:off x="0" y="0"/>
              <a:ext cx="4816592" cy="1710536"/>
            </a:xfrm>
            <a:custGeom>
              <a:avLst/>
              <a:gdLst/>
              <a:ahLst/>
              <a:cxnLst/>
              <a:rect r="r" b="b" t="t" l="l"/>
              <a:pathLst>
                <a:path h="1710536" w="4816592">
                  <a:moveTo>
                    <a:pt x="0" y="0"/>
                  </a:moveTo>
                  <a:lnTo>
                    <a:pt x="4816592" y="0"/>
                  </a:lnTo>
                  <a:lnTo>
                    <a:pt x="4816592" y="1710536"/>
                  </a:lnTo>
                  <a:lnTo>
                    <a:pt x="0" y="1710536"/>
                  </a:lnTo>
                  <a:close/>
                </a:path>
              </a:pathLst>
            </a:custGeom>
            <a:solidFill>
              <a:srgbClr val="1C1C1C"/>
            </a:solidFill>
          </p:spPr>
        </p:sp>
        <p:sp>
          <p:nvSpPr>
            <p:cNvPr name="TextBox 4" id="4"/>
            <p:cNvSpPr txBox="true"/>
            <p:nvPr/>
          </p:nvSpPr>
          <p:spPr>
            <a:xfrm>
              <a:off x="0" y="19050"/>
              <a:ext cx="4816593" cy="1691485"/>
            </a:xfrm>
            <a:prstGeom prst="rect">
              <a:avLst/>
            </a:prstGeom>
          </p:spPr>
          <p:txBody>
            <a:bodyPr anchor="ctr" rtlCol="false" tIns="50800" lIns="50800" bIns="50800" rIns="50800"/>
            <a:lstStyle/>
            <a:p>
              <a:pPr algn="ctr">
                <a:lnSpc>
                  <a:spcPts val="2674"/>
                </a:lnSpc>
              </a:pPr>
            </a:p>
          </p:txBody>
        </p:sp>
      </p:grpSp>
      <p:sp>
        <p:nvSpPr>
          <p:cNvPr name="Freeform 5" id="5"/>
          <p:cNvSpPr/>
          <p:nvPr/>
        </p:nvSpPr>
        <p:spPr>
          <a:xfrm flipH="false" flipV="false" rot="0">
            <a:off x="3661548" y="268201"/>
            <a:ext cx="10964903" cy="5958287"/>
          </a:xfrm>
          <a:custGeom>
            <a:avLst/>
            <a:gdLst/>
            <a:ahLst/>
            <a:cxnLst/>
            <a:rect r="r" b="b" t="t" l="l"/>
            <a:pathLst>
              <a:path h="5958287" w="10964903">
                <a:moveTo>
                  <a:pt x="0" y="0"/>
                </a:moveTo>
                <a:lnTo>
                  <a:pt x="10964904" y="0"/>
                </a:lnTo>
                <a:lnTo>
                  <a:pt x="10964904" y="5958287"/>
                </a:lnTo>
                <a:lnTo>
                  <a:pt x="0" y="5958287"/>
                </a:lnTo>
                <a:lnTo>
                  <a:pt x="0" y="0"/>
                </a:lnTo>
                <a:close/>
              </a:path>
            </a:pathLst>
          </a:custGeom>
          <a:blipFill>
            <a:blip r:embed="rId2"/>
            <a:stretch>
              <a:fillRect l="0" t="0" r="0" b="0"/>
            </a:stretch>
          </a:blipFill>
        </p:spPr>
      </p:sp>
      <p:sp>
        <p:nvSpPr>
          <p:cNvPr name="TextBox 6" id="6"/>
          <p:cNvSpPr txBox="true"/>
          <p:nvPr/>
        </p:nvSpPr>
        <p:spPr>
          <a:xfrm rot="0">
            <a:off x="1028700" y="7298871"/>
            <a:ext cx="16230600" cy="1355725"/>
          </a:xfrm>
          <a:prstGeom prst="rect">
            <a:avLst/>
          </a:prstGeom>
        </p:spPr>
        <p:txBody>
          <a:bodyPr anchor="t" rtlCol="false" tIns="0" lIns="0" bIns="0" rIns="0">
            <a:spAutoFit/>
          </a:bodyPr>
          <a:lstStyle/>
          <a:p>
            <a:pPr algn="l">
              <a:lnSpc>
                <a:spcPts val="2674"/>
              </a:lnSpc>
            </a:pPr>
            <a:r>
              <a:rPr lang="en-US" sz="2499">
                <a:solidFill>
                  <a:srgbClr val="363636"/>
                </a:solidFill>
                <a:latin typeface="Archivo Black"/>
                <a:ea typeface="Archivo Black"/>
                <a:cs typeface="Archivo Black"/>
                <a:sym typeface="Archivo Black"/>
              </a:rPr>
              <a:t>PROSES PEMBERSIHAN TEKS KELIMA:</a:t>
            </a:r>
          </a:p>
          <a:p>
            <a:pPr algn="l">
              <a:lnSpc>
                <a:spcPts val="2674"/>
              </a:lnSpc>
              <a:spcBef>
                <a:spcPct val="0"/>
              </a:spcBef>
            </a:pPr>
            <a:r>
              <a:rPr lang="en-US" sz="2499">
                <a:solidFill>
                  <a:srgbClr val="363636"/>
                </a:solidFill>
                <a:latin typeface="Archivo Black"/>
                <a:ea typeface="Archivo Black"/>
                <a:cs typeface="Archivo Black"/>
                <a:sym typeface="Archivo Black"/>
              </a:rPr>
              <a:t>MEMASUKKAN HASIL DARI PREPROCESSING KE DALAM DATA, LALU MEMISAHKANNYA KARENA TADI HASIL PREPROCESSING NYA BERUPA LIST ANTARA TEKS BERSIH DENGAN TEKS BERSIH YANG SUDAH DITOKENISASI</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F2EBE3"/>
        </a:solidFill>
      </p:bgPr>
    </p:bg>
    <p:spTree>
      <p:nvGrpSpPr>
        <p:cNvPr id="1" name=""/>
        <p:cNvGrpSpPr/>
        <p:nvPr/>
      </p:nvGrpSpPr>
      <p:grpSpPr>
        <a:xfrm>
          <a:off x="0" y="0"/>
          <a:ext cx="0" cy="0"/>
          <a:chOff x="0" y="0"/>
          <a:chExt cx="0" cy="0"/>
        </a:xfrm>
      </p:grpSpPr>
      <p:grpSp>
        <p:nvGrpSpPr>
          <p:cNvPr name="Group 2" id="2"/>
          <p:cNvGrpSpPr/>
          <p:nvPr/>
        </p:nvGrpSpPr>
        <p:grpSpPr>
          <a:xfrm rot="0">
            <a:off x="1330829" y="2535161"/>
            <a:ext cx="15626343" cy="5216678"/>
            <a:chOff x="0" y="0"/>
            <a:chExt cx="4115580" cy="1373940"/>
          </a:xfrm>
        </p:grpSpPr>
        <p:sp>
          <p:nvSpPr>
            <p:cNvPr name="Freeform 3" id="3"/>
            <p:cNvSpPr/>
            <p:nvPr/>
          </p:nvSpPr>
          <p:spPr>
            <a:xfrm flipH="false" flipV="false" rot="0">
              <a:off x="0" y="0"/>
              <a:ext cx="4115580" cy="1373940"/>
            </a:xfrm>
            <a:custGeom>
              <a:avLst/>
              <a:gdLst/>
              <a:ahLst/>
              <a:cxnLst/>
              <a:rect r="r" b="b" t="t" l="l"/>
              <a:pathLst>
                <a:path h="1373940" w="4115580">
                  <a:moveTo>
                    <a:pt x="0" y="0"/>
                  </a:moveTo>
                  <a:lnTo>
                    <a:pt x="4115580" y="0"/>
                  </a:lnTo>
                  <a:lnTo>
                    <a:pt x="4115580" y="1373940"/>
                  </a:lnTo>
                  <a:lnTo>
                    <a:pt x="0" y="1373940"/>
                  </a:lnTo>
                  <a:close/>
                </a:path>
              </a:pathLst>
            </a:custGeom>
            <a:solidFill>
              <a:srgbClr val="FFFFFF"/>
            </a:solidFill>
          </p:spPr>
        </p:sp>
        <p:sp>
          <p:nvSpPr>
            <p:cNvPr name="TextBox 4" id="4"/>
            <p:cNvSpPr txBox="true"/>
            <p:nvPr/>
          </p:nvSpPr>
          <p:spPr>
            <a:xfrm>
              <a:off x="0" y="19050"/>
              <a:ext cx="4115580" cy="1354890"/>
            </a:xfrm>
            <a:prstGeom prst="rect">
              <a:avLst/>
            </a:prstGeom>
          </p:spPr>
          <p:txBody>
            <a:bodyPr anchor="ctr" rtlCol="false" tIns="50800" lIns="50800" bIns="50800" rIns="50800"/>
            <a:lstStyle/>
            <a:p>
              <a:pPr algn="ctr">
                <a:lnSpc>
                  <a:spcPts val="2674"/>
                </a:lnSpc>
              </a:pPr>
            </a:p>
          </p:txBody>
        </p:sp>
      </p:grpSp>
      <p:sp>
        <p:nvSpPr>
          <p:cNvPr name="TextBox 5" id="5"/>
          <p:cNvSpPr txBox="true"/>
          <p:nvPr/>
        </p:nvSpPr>
        <p:spPr>
          <a:xfrm rot="0">
            <a:off x="1924667" y="3935970"/>
            <a:ext cx="14438667" cy="1661671"/>
          </a:xfrm>
          <a:prstGeom prst="rect">
            <a:avLst/>
          </a:prstGeom>
        </p:spPr>
        <p:txBody>
          <a:bodyPr anchor="t" rtlCol="false" tIns="0" lIns="0" bIns="0" rIns="0">
            <a:spAutoFit/>
          </a:bodyPr>
          <a:lstStyle/>
          <a:p>
            <a:pPr algn="l">
              <a:lnSpc>
                <a:spcPts val="12626"/>
              </a:lnSpc>
              <a:spcBef>
                <a:spcPct val="0"/>
              </a:spcBef>
            </a:pPr>
            <a:r>
              <a:rPr lang="en-US" sz="11800">
                <a:solidFill>
                  <a:srgbClr val="1C1C1C"/>
                </a:solidFill>
                <a:latin typeface="Archivo Black"/>
                <a:ea typeface="Archivo Black"/>
                <a:cs typeface="Archivo Black"/>
                <a:sym typeface="Archivo Black"/>
              </a:rPr>
              <a:t>MODELING</a:t>
            </a:r>
          </a:p>
        </p:txBody>
      </p:sp>
      <p:sp>
        <p:nvSpPr>
          <p:cNvPr name="TextBox 6" id="6"/>
          <p:cNvSpPr txBox="true"/>
          <p:nvPr/>
        </p:nvSpPr>
        <p:spPr>
          <a:xfrm rot="0">
            <a:off x="2000867" y="5609196"/>
            <a:ext cx="8834756" cy="355600"/>
          </a:xfrm>
          <a:prstGeom prst="rect">
            <a:avLst/>
          </a:prstGeom>
        </p:spPr>
        <p:txBody>
          <a:bodyPr anchor="t" rtlCol="false" tIns="0" lIns="0" bIns="0" rIns="0">
            <a:spAutoFit/>
          </a:bodyPr>
          <a:lstStyle/>
          <a:p>
            <a:pPr algn="l">
              <a:lnSpc>
                <a:spcPts val="2674"/>
              </a:lnSpc>
              <a:spcBef>
                <a:spcPct val="0"/>
              </a:spcBef>
            </a:pPr>
            <a:r>
              <a:rPr lang="en-US" sz="2499">
                <a:solidFill>
                  <a:srgbClr val="1C1C1C"/>
                </a:solidFill>
                <a:latin typeface="Archivo Black"/>
                <a:ea typeface="Archivo Black"/>
                <a:cs typeface="Archivo Black"/>
                <a:sym typeface="Archivo Black"/>
              </a:rPr>
              <a:t>LDA</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2EBE3"/>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6494689"/>
            <a:chOff x="0" y="0"/>
            <a:chExt cx="4816593" cy="1710535"/>
          </a:xfrm>
        </p:grpSpPr>
        <p:sp>
          <p:nvSpPr>
            <p:cNvPr name="Freeform 3" id="3"/>
            <p:cNvSpPr/>
            <p:nvPr/>
          </p:nvSpPr>
          <p:spPr>
            <a:xfrm flipH="false" flipV="false" rot="0">
              <a:off x="0" y="0"/>
              <a:ext cx="4816592" cy="1710536"/>
            </a:xfrm>
            <a:custGeom>
              <a:avLst/>
              <a:gdLst/>
              <a:ahLst/>
              <a:cxnLst/>
              <a:rect r="r" b="b" t="t" l="l"/>
              <a:pathLst>
                <a:path h="1710536" w="4816592">
                  <a:moveTo>
                    <a:pt x="0" y="0"/>
                  </a:moveTo>
                  <a:lnTo>
                    <a:pt x="4816592" y="0"/>
                  </a:lnTo>
                  <a:lnTo>
                    <a:pt x="4816592" y="1710536"/>
                  </a:lnTo>
                  <a:lnTo>
                    <a:pt x="0" y="1710536"/>
                  </a:lnTo>
                  <a:close/>
                </a:path>
              </a:pathLst>
            </a:custGeom>
            <a:solidFill>
              <a:srgbClr val="1C1C1C"/>
            </a:solidFill>
          </p:spPr>
        </p:sp>
        <p:sp>
          <p:nvSpPr>
            <p:cNvPr name="TextBox 4" id="4"/>
            <p:cNvSpPr txBox="true"/>
            <p:nvPr/>
          </p:nvSpPr>
          <p:spPr>
            <a:xfrm>
              <a:off x="0" y="19050"/>
              <a:ext cx="4816593" cy="1691485"/>
            </a:xfrm>
            <a:prstGeom prst="rect">
              <a:avLst/>
            </a:prstGeom>
          </p:spPr>
          <p:txBody>
            <a:bodyPr anchor="ctr" rtlCol="false" tIns="50800" lIns="50800" bIns="50800" rIns="50800"/>
            <a:lstStyle/>
            <a:p>
              <a:pPr algn="ctr">
                <a:lnSpc>
                  <a:spcPts val="2674"/>
                </a:lnSpc>
              </a:pPr>
            </a:p>
          </p:txBody>
        </p:sp>
      </p:grpSp>
      <p:sp>
        <p:nvSpPr>
          <p:cNvPr name="Freeform 5" id="5"/>
          <p:cNvSpPr/>
          <p:nvPr/>
        </p:nvSpPr>
        <p:spPr>
          <a:xfrm flipH="false" flipV="false" rot="0">
            <a:off x="2661443" y="302278"/>
            <a:ext cx="12965114" cy="5890134"/>
          </a:xfrm>
          <a:custGeom>
            <a:avLst/>
            <a:gdLst/>
            <a:ahLst/>
            <a:cxnLst/>
            <a:rect r="r" b="b" t="t" l="l"/>
            <a:pathLst>
              <a:path h="5890134" w="12965114">
                <a:moveTo>
                  <a:pt x="0" y="0"/>
                </a:moveTo>
                <a:lnTo>
                  <a:pt x="12965114" y="0"/>
                </a:lnTo>
                <a:lnTo>
                  <a:pt x="12965114" y="5890134"/>
                </a:lnTo>
                <a:lnTo>
                  <a:pt x="0" y="5890134"/>
                </a:lnTo>
                <a:lnTo>
                  <a:pt x="0" y="0"/>
                </a:lnTo>
                <a:close/>
              </a:path>
            </a:pathLst>
          </a:custGeom>
          <a:blipFill>
            <a:blip r:embed="rId2"/>
            <a:stretch>
              <a:fillRect l="0" t="0" r="0" b="0"/>
            </a:stretch>
          </a:blipFill>
        </p:spPr>
      </p:sp>
      <p:sp>
        <p:nvSpPr>
          <p:cNvPr name="TextBox 6" id="6"/>
          <p:cNvSpPr txBox="true"/>
          <p:nvPr/>
        </p:nvSpPr>
        <p:spPr>
          <a:xfrm rot="0">
            <a:off x="1028700" y="7298871"/>
            <a:ext cx="16230600" cy="2022475"/>
          </a:xfrm>
          <a:prstGeom prst="rect">
            <a:avLst/>
          </a:prstGeom>
        </p:spPr>
        <p:txBody>
          <a:bodyPr anchor="t" rtlCol="false" tIns="0" lIns="0" bIns="0" rIns="0">
            <a:spAutoFit/>
          </a:bodyPr>
          <a:lstStyle/>
          <a:p>
            <a:pPr algn="l">
              <a:lnSpc>
                <a:spcPts val="2674"/>
              </a:lnSpc>
            </a:pPr>
            <a:r>
              <a:rPr lang="en-US" sz="2499">
                <a:solidFill>
                  <a:srgbClr val="363636"/>
                </a:solidFill>
                <a:latin typeface="Archivo Black"/>
                <a:ea typeface="Archivo Black"/>
                <a:cs typeface="Archivo Black"/>
                <a:sym typeface="Archivo Black"/>
              </a:rPr>
              <a:t>PROSES MODELING PERTAMA:</a:t>
            </a:r>
          </a:p>
          <a:p>
            <a:pPr algn="l">
              <a:lnSpc>
                <a:spcPts val="2674"/>
              </a:lnSpc>
            </a:pPr>
            <a:r>
              <a:rPr lang="en-US" sz="2499">
                <a:solidFill>
                  <a:srgbClr val="363636"/>
                </a:solidFill>
                <a:latin typeface="Archivo Black"/>
                <a:ea typeface="Archivo Black"/>
                <a:cs typeface="Archivo Black"/>
                <a:sym typeface="Archivo Black"/>
              </a:rPr>
              <a:t>MEMBUAT LIST TWEET BERDASARKAN TOKEN YANG BERISI TEKS BERSIH.</a:t>
            </a:r>
          </a:p>
          <a:p>
            <a:pPr algn="l">
              <a:lnSpc>
                <a:spcPts val="2674"/>
              </a:lnSpc>
            </a:pPr>
            <a:r>
              <a:rPr lang="en-US" sz="2499">
                <a:solidFill>
                  <a:srgbClr val="363636"/>
                </a:solidFill>
                <a:latin typeface="Archivo Black"/>
                <a:ea typeface="Archivo Black"/>
                <a:cs typeface="Archivo Black"/>
                <a:sym typeface="Archivo Black"/>
              </a:rPr>
              <a:t>MEMUAT KATA UNIK BERDASARKAN LIST TWEET.</a:t>
            </a:r>
          </a:p>
          <a:p>
            <a:pPr algn="l">
              <a:lnSpc>
                <a:spcPts val="2674"/>
              </a:lnSpc>
            </a:pPr>
            <a:r>
              <a:rPr lang="en-US" sz="2499">
                <a:solidFill>
                  <a:srgbClr val="363636"/>
                </a:solidFill>
                <a:latin typeface="Archivo Black"/>
                <a:ea typeface="Archivo Black"/>
                <a:cs typeface="Archivo Black"/>
                <a:sym typeface="Archivo Black"/>
              </a:rPr>
              <a:t>MENYARING KATA UNIK YANG MUNCUL 90% DARI TOTAL DOKUMEN, DAN YANG MUNCUL KURANG DARI 2.</a:t>
            </a:r>
          </a:p>
          <a:p>
            <a:pPr algn="l">
              <a:lnSpc>
                <a:spcPts val="2674"/>
              </a:lnSpc>
              <a:spcBef>
                <a:spcPct val="0"/>
              </a:spcBef>
            </a:pPr>
            <a:r>
              <a:rPr lang="en-US" sz="2499">
                <a:solidFill>
                  <a:srgbClr val="363636"/>
                </a:solidFill>
                <a:latin typeface="Archivo Black"/>
                <a:ea typeface="Archivo Black"/>
                <a:cs typeface="Archivo Black"/>
                <a:sym typeface="Archivo Black"/>
              </a:rPr>
              <a:t>MEMBUAT KORPUS BERDASARKAN DICTIONARY.</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2EBE3"/>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6494689"/>
            <a:chOff x="0" y="0"/>
            <a:chExt cx="4816593" cy="1710535"/>
          </a:xfrm>
        </p:grpSpPr>
        <p:sp>
          <p:nvSpPr>
            <p:cNvPr name="Freeform 3" id="3"/>
            <p:cNvSpPr/>
            <p:nvPr/>
          </p:nvSpPr>
          <p:spPr>
            <a:xfrm flipH="false" flipV="false" rot="0">
              <a:off x="0" y="0"/>
              <a:ext cx="4816592" cy="1710536"/>
            </a:xfrm>
            <a:custGeom>
              <a:avLst/>
              <a:gdLst/>
              <a:ahLst/>
              <a:cxnLst/>
              <a:rect r="r" b="b" t="t" l="l"/>
              <a:pathLst>
                <a:path h="1710536" w="4816592">
                  <a:moveTo>
                    <a:pt x="0" y="0"/>
                  </a:moveTo>
                  <a:lnTo>
                    <a:pt x="4816592" y="0"/>
                  </a:lnTo>
                  <a:lnTo>
                    <a:pt x="4816592" y="1710536"/>
                  </a:lnTo>
                  <a:lnTo>
                    <a:pt x="0" y="1710536"/>
                  </a:lnTo>
                  <a:close/>
                </a:path>
              </a:pathLst>
            </a:custGeom>
            <a:solidFill>
              <a:srgbClr val="1C1C1C"/>
            </a:solidFill>
          </p:spPr>
        </p:sp>
        <p:sp>
          <p:nvSpPr>
            <p:cNvPr name="TextBox 4" id="4"/>
            <p:cNvSpPr txBox="true"/>
            <p:nvPr/>
          </p:nvSpPr>
          <p:spPr>
            <a:xfrm>
              <a:off x="0" y="19050"/>
              <a:ext cx="4816593" cy="1691485"/>
            </a:xfrm>
            <a:prstGeom prst="rect">
              <a:avLst/>
            </a:prstGeom>
          </p:spPr>
          <p:txBody>
            <a:bodyPr anchor="ctr" rtlCol="false" tIns="50800" lIns="50800" bIns="50800" rIns="50800"/>
            <a:lstStyle/>
            <a:p>
              <a:pPr algn="ctr">
                <a:lnSpc>
                  <a:spcPts val="2674"/>
                </a:lnSpc>
              </a:pPr>
            </a:p>
          </p:txBody>
        </p:sp>
      </p:grpSp>
      <p:sp>
        <p:nvSpPr>
          <p:cNvPr name="Freeform 5" id="5"/>
          <p:cNvSpPr/>
          <p:nvPr/>
        </p:nvSpPr>
        <p:spPr>
          <a:xfrm flipH="false" flipV="false" rot="0">
            <a:off x="3106019" y="282864"/>
            <a:ext cx="12075963" cy="5928962"/>
          </a:xfrm>
          <a:custGeom>
            <a:avLst/>
            <a:gdLst/>
            <a:ahLst/>
            <a:cxnLst/>
            <a:rect r="r" b="b" t="t" l="l"/>
            <a:pathLst>
              <a:path h="5928962" w="12075963">
                <a:moveTo>
                  <a:pt x="0" y="0"/>
                </a:moveTo>
                <a:lnTo>
                  <a:pt x="12075962" y="0"/>
                </a:lnTo>
                <a:lnTo>
                  <a:pt x="12075962" y="5928962"/>
                </a:lnTo>
                <a:lnTo>
                  <a:pt x="0" y="5928962"/>
                </a:lnTo>
                <a:lnTo>
                  <a:pt x="0" y="0"/>
                </a:lnTo>
                <a:close/>
              </a:path>
            </a:pathLst>
          </a:custGeom>
          <a:blipFill>
            <a:blip r:embed="rId2"/>
            <a:stretch>
              <a:fillRect l="0" t="0" r="0" b="0"/>
            </a:stretch>
          </a:blipFill>
        </p:spPr>
      </p:sp>
      <p:sp>
        <p:nvSpPr>
          <p:cNvPr name="TextBox 6" id="6"/>
          <p:cNvSpPr txBox="true"/>
          <p:nvPr/>
        </p:nvSpPr>
        <p:spPr>
          <a:xfrm rot="0">
            <a:off x="1028700" y="7298871"/>
            <a:ext cx="16230600" cy="1355725"/>
          </a:xfrm>
          <a:prstGeom prst="rect">
            <a:avLst/>
          </a:prstGeom>
        </p:spPr>
        <p:txBody>
          <a:bodyPr anchor="t" rtlCol="false" tIns="0" lIns="0" bIns="0" rIns="0">
            <a:spAutoFit/>
          </a:bodyPr>
          <a:lstStyle/>
          <a:p>
            <a:pPr algn="l">
              <a:lnSpc>
                <a:spcPts val="2674"/>
              </a:lnSpc>
            </a:pPr>
            <a:r>
              <a:rPr lang="en-US" sz="2499">
                <a:solidFill>
                  <a:srgbClr val="363636"/>
                </a:solidFill>
                <a:latin typeface="Archivo Black"/>
                <a:ea typeface="Archivo Black"/>
                <a:cs typeface="Archivo Black"/>
                <a:sym typeface="Archivo Black"/>
              </a:rPr>
              <a:t>PROSES MODELING KEDUA:</a:t>
            </a:r>
          </a:p>
          <a:p>
            <a:pPr algn="l">
              <a:lnSpc>
                <a:spcPts val="2674"/>
              </a:lnSpc>
            </a:pPr>
            <a:r>
              <a:rPr lang="en-US" sz="2499">
                <a:solidFill>
                  <a:srgbClr val="363636"/>
                </a:solidFill>
                <a:latin typeface="Archivo Black"/>
                <a:ea typeface="Archivo Black"/>
                <a:cs typeface="Archivo Black"/>
                <a:sym typeface="Archivo Black"/>
              </a:rPr>
              <a:t>MENENTUKAN TOPIK YANG INGIN DICARI, DI SINI SAYA HANYA MENGAMBIL 5 TOPIK.</a:t>
            </a:r>
          </a:p>
          <a:p>
            <a:pPr algn="l">
              <a:lnSpc>
                <a:spcPts val="2674"/>
              </a:lnSpc>
              <a:spcBef>
                <a:spcPct val="0"/>
              </a:spcBef>
            </a:pPr>
            <a:r>
              <a:rPr lang="en-US" sz="2499">
                <a:solidFill>
                  <a:srgbClr val="363636"/>
                </a:solidFill>
                <a:latin typeface="Archivo Black"/>
                <a:ea typeface="Archivo Black"/>
                <a:cs typeface="Archivo Black"/>
                <a:sym typeface="Archivo Black"/>
              </a:rPr>
              <a:t>MENERAPKAN MODEL LDA DENGAN MEMASUKKAN CORPUS, DICTIONARY, JUMLAH TOPIK, RANDOM STATE SEBESAR 42, DAN ITERASI (JUMLAH PENGULANGAN) SEBANYAK 5000.</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2EBE3"/>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6494689"/>
            <a:chOff x="0" y="0"/>
            <a:chExt cx="4816593" cy="1710535"/>
          </a:xfrm>
        </p:grpSpPr>
        <p:sp>
          <p:nvSpPr>
            <p:cNvPr name="Freeform 3" id="3"/>
            <p:cNvSpPr/>
            <p:nvPr/>
          </p:nvSpPr>
          <p:spPr>
            <a:xfrm flipH="false" flipV="false" rot="0">
              <a:off x="0" y="0"/>
              <a:ext cx="4816592" cy="1710536"/>
            </a:xfrm>
            <a:custGeom>
              <a:avLst/>
              <a:gdLst/>
              <a:ahLst/>
              <a:cxnLst/>
              <a:rect r="r" b="b" t="t" l="l"/>
              <a:pathLst>
                <a:path h="1710536" w="4816592">
                  <a:moveTo>
                    <a:pt x="0" y="0"/>
                  </a:moveTo>
                  <a:lnTo>
                    <a:pt x="4816592" y="0"/>
                  </a:lnTo>
                  <a:lnTo>
                    <a:pt x="4816592" y="1710536"/>
                  </a:lnTo>
                  <a:lnTo>
                    <a:pt x="0" y="1710536"/>
                  </a:lnTo>
                  <a:close/>
                </a:path>
              </a:pathLst>
            </a:custGeom>
            <a:solidFill>
              <a:srgbClr val="1C1C1C"/>
            </a:solidFill>
          </p:spPr>
        </p:sp>
        <p:sp>
          <p:nvSpPr>
            <p:cNvPr name="TextBox 4" id="4"/>
            <p:cNvSpPr txBox="true"/>
            <p:nvPr/>
          </p:nvSpPr>
          <p:spPr>
            <a:xfrm>
              <a:off x="0" y="19050"/>
              <a:ext cx="4816593" cy="1691485"/>
            </a:xfrm>
            <a:prstGeom prst="rect">
              <a:avLst/>
            </a:prstGeom>
          </p:spPr>
          <p:txBody>
            <a:bodyPr anchor="ctr" rtlCol="false" tIns="50800" lIns="50800" bIns="50800" rIns="50800"/>
            <a:lstStyle/>
            <a:p>
              <a:pPr algn="ctr">
                <a:lnSpc>
                  <a:spcPts val="2674"/>
                </a:lnSpc>
              </a:pPr>
            </a:p>
          </p:txBody>
        </p:sp>
      </p:grpSp>
      <p:sp>
        <p:nvSpPr>
          <p:cNvPr name="Freeform 5" id="5"/>
          <p:cNvSpPr/>
          <p:nvPr/>
        </p:nvSpPr>
        <p:spPr>
          <a:xfrm flipH="false" flipV="false" rot="0">
            <a:off x="3106019" y="282864"/>
            <a:ext cx="12075963" cy="5928962"/>
          </a:xfrm>
          <a:custGeom>
            <a:avLst/>
            <a:gdLst/>
            <a:ahLst/>
            <a:cxnLst/>
            <a:rect r="r" b="b" t="t" l="l"/>
            <a:pathLst>
              <a:path h="5928962" w="12075963">
                <a:moveTo>
                  <a:pt x="0" y="0"/>
                </a:moveTo>
                <a:lnTo>
                  <a:pt x="12075962" y="0"/>
                </a:lnTo>
                <a:lnTo>
                  <a:pt x="12075962" y="5928962"/>
                </a:lnTo>
                <a:lnTo>
                  <a:pt x="0" y="5928962"/>
                </a:lnTo>
                <a:lnTo>
                  <a:pt x="0" y="0"/>
                </a:lnTo>
                <a:close/>
              </a:path>
            </a:pathLst>
          </a:custGeom>
          <a:blipFill>
            <a:blip r:embed="rId2"/>
            <a:stretch>
              <a:fillRect l="0" t="0" r="0" b="0"/>
            </a:stretch>
          </a:blipFill>
        </p:spPr>
      </p:sp>
      <p:sp>
        <p:nvSpPr>
          <p:cNvPr name="TextBox 6" id="6"/>
          <p:cNvSpPr txBox="true"/>
          <p:nvPr/>
        </p:nvSpPr>
        <p:spPr>
          <a:xfrm rot="0">
            <a:off x="1028700" y="7298871"/>
            <a:ext cx="16230600" cy="688975"/>
          </a:xfrm>
          <a:prstGeom prst="rect">
            <a:avLst/>
          </a:prstGeom>
        </p:spPr>
        <p:txBody>
          <a:bodyPr anchor="t" rtlCol="false" tIns="0" lIns="0" bIns="0" rIns="0">
            <a:spAutoFit/>
          </a:bodyPr>
          <a:lstStyle/>
          <a:p>
            <a:pPr algn="l">
              <a:lnSpc>
                <a:spcPts val="2674"/>
              </a:lnSpc>
            </a:pPr>
            <a:r>
              <a:rPr lang="en-US" sz="2499">
                <a:solidFill>
                  <a:srgbClr val="363636"/>
                </a:solidFill>
                <a:latin typeface="Archivo Black"/>
                <a:ea typeface="Archivo Black"/>
                <a:cs typeface="Archivo Black"/>
                <a:sym typeface="Archivo Black"/>
              </a:rPr>
              <a:t>PROSES MODELING KETIGA:</a:t>
            </a:r>
          </a:p>
          <a:p>
            <a:pPr algn="l">
              <a:lnSpc>
                <a:spcPts val="2674"/>
              </a:lnSpc>
              <a:spcBef>
                <a:spcPct val="0"/>
              </a:spcBef>
            </a:pPr>
            <a:r>
              <a:rPr lang="en-US" sz="2499">
                <a:solidFill>
                  <a:srgbClr val="363636"/>
                </a:solidFill>
                <a:latin typeface="Archivo Black"/>
                <a:ea typeface="Archivo Black"/>
                <a:cs typeface="Archivo Black"/>
                <a:sym typeface="Archivo Black"/>
              </a:rPr>
              <a:t>MENENTUKAN ISI TIAP TOPIKNYA, SEBANYAK 10 KATA TIAP TOPIK.</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2EBE3"/>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6494689"/>
            <a:chOff x="0" y="0"/>
            <a:chExt cx="4816593" cy="1710535"/>
          </a:xfrm>
        </p:grpSpPr>
        <p:sp>
          <p:nvSpPr>
            <p:cNvPr name="Freeform 3" id="3"/>
            <p:cNvSpPr/>
            <p:nvPr/>
          </p:nvSpPr>
          <p:spPr>
            <a:xfrm flipH="false" flipV="false" rot="0">
              <a:off x="0" y="0"/>
              <a:ext cx="4816592" cy="1710536"/>
            </a:xfrm>
            <a:custGeom>
              <a:avLst/>
              <a:gdLst/>
              <a:ahLst/>
              <a:cxnLst/>
              <a:rect r="r" b="b" t="t" l="l"/>
              <a:pathLst>
                <a:path h="1710536" w="4816592">
                  <a:moveTo>
                    <a:pt x="0" y="0"/>
                  </a:moveTo>
                  <a:lnTo>
                    <a:pt x="4816592" y="0"/>
                  </a:lnTo>
                  <a:lnTo>
                    <a:pt x="4816592" y="1710536"/>
                  </a:lnTo>
                  <a:lnTo>
                    <a:pt x="0" y="1710536"/>
                  </a:lnTo>
                  <a:close/>
                </a:path>
              </a:pathLst>
            </a:custGeom>
            <a:solidFill>
              <a:srgbClr val="1C1C1C"/>
            </a:solidFill>
          </p:spPr>
        </p:sp>
        <p:sp>
          <p:nvSpPr>
            <p:cNvPr name="TextBox 4" id="4"/>
            <p:cNvSpPr txBox="true"/>
            <p:nvPr/>
          </p:nvSpPr>
          <p:spPr>
            <a:xfrm>
              <a:off x="0" y="19050"/>
              <a:ext cx="4816593" cy="1691485"/>
            </a:xfrm>
            <a:prstGeom prst="rect">
              <a:avLst/>
            </a:prstGeom>
          </p:spPr>
          <p:txBody>
            <a:bodyPr anchor="ctr" rtlCol="false" tIns="50800" lIns="50800" bIns="50800" rIns="50800"/>
            <a:lstStyle/>
            <a:p>
              <a:pPr algn="ctr">
                <a:lnSpc>
                  <a:spcPts val="2674"/>
                </a:lnSpc>
              </a:pPr>
            </a:p>
          </p:txBody>
        </p:sp>
      </p:grpSp>
      <p:sp>
        <p:nvSpPr>
          <p:cNvPr name="Freeform 5" id="5"/>
          <p:cNvSpPr/>
          <p:nvPr/>
        </p:nvSpPr>
        <p:spPr>
          <a:xfrm flipH="false" flipV="false" rot="0">
            <a:off x="3223391" y="485194"/>
            <a:ext cx="11841219" cy="5524301"/>
          </a:xfrm>
          <a:custGeom>
            <a:avLst/>
            <a:gdLst/>
            <a:ahLst/>
            <a:cxnLst/>
            <a:rect r="r" b="b" t="t" l="l"/>
            <a:pathLst>
              <a:path h="5524301" w="11841219">
                <a:moveTo>
                  <a:pt x="0" y="0"/>
                </a:moveTo>
                <a:lnTo>
                  <a:pt x="11841218" y="0"/>
                </a:lnTo>
                <a:lnTo>
                  <a:pt x="11841218" y="5524301"/>
                </a:lnTo>
                <a:lnTo>
                  <a:pt x="0" y="5524301"/>
                </a:lnTo>
                <a:lnTo>
                  <a:pt x="0" y="0"/>
                </a:lnTo>
                <a:close/>
              </a:path>
            </a:pathLst>
          </a:custGeom>
          <a:blipFill>
            <a:blip r:embed="rId2"/>
            <a:stretch>
              <a:fillRect l="0" t="0" r="0" b="0"/>
            </a:stretch>
          </a:blipFill>
        </p:spPr>
      </p:sp>
      <p:sp>
        <p:nvSpPr>
          <p:cNvPr name="TextBox 6" id="6"/>
          <p:cNvSpPr txBox="true"/>
          <p:nvPr/>
        </p:nvSpPr>
        <p:spPr>
          <a:xfrm rot="0">
            <a:off x="1028700" y="7298871"/>
            <a:ext cx="16230600" cy="1022350"/>
          </a:xfrm>
          <a:prstGeom prst="rect">
            <a:avLst/>
          </a:prstGeom>
        </p:spPr>
        <p:txBody>
          <a:bodyPr anchor="t" rtlCol="false" tIns="0" lIns="0" bIns="0" rIns="0">
            <a:spAutoFit/>
          </a:bodyPr>
          <a:lstStyle/>
          <a:p>
            <a:pPr algn="l">
              <a:lnSpc>
                <a:spcPts val="2674"/>
              </a:lnSpc>
            </a:pPr>
            <a:r>
              <a:rPr lang="en-US" sz="2499">
                <a:solidFill>
                  <a:srgbClr val="363636"/>
                </a:solidFill>
                <a:latin typeface="Archivo Black"/>
                <a:ea typeface="Archivo Black"/>
                <a:cs typeface="Archivo Black"/>
                <a:sym typeface="Archivo Black"/>
              </a:rPr>
              <a:t>PROSES MODELING KEEMPAT:</a:t>
            </a:r>
          </a:p>
          <a:p>
            <a:pPr algn="l">
              <a:lnSpc>
                <a:spcPts val="2674"/>
              </a:lnSpc>
              <a:spcBef>
                <a:spcPct val="0"/>
              </a:spcBef>
            </a:pPr>
            <a:r>
              <a:rPr lang="en-US" sz="2499">
                <a:solidFill>
                  <a:srgbClr val="363636"/>
                </a:solidFill>
                <a:latin typeface="Archivo Black"/>
                <a:ea typeface="Archivo Black"/>
                <a:cs typeface="Archivo Black"/>
                <a:sym typeface="Archivo Black"/>
              </a:rPr>
              <a:t>MENENTUKAN PERSENTASE PEMILIHAN TOPIK UNTUK TIAP DATA, BERDASARKAN KELIMA TOPIK YANG TADI SUDAH DITEMUKAN.</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2EBE3"/>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6494689"/>
            <a:chOff x="0" y="0"/>
            <a:chExt cx="4816593" cy="1710535"/>
          </a:xfrm>
        </p:grpSpPr>
        <p:sp>
          <p:nvSpPr>
            <p:cNvPr name="Freeform 3" id="3"/>
            <p:cNvSpPr/>
            <p:nvPr/>
          </p:nvSpPr>
          <p:spPr>
            <a:xfrm flipH="false" flipV="false" rot="0">
              <a:off x="0" y="0"/>
              <a:ext cx="4816592" cy="1710536"/>
            </a:xfrm>
            <a:custGeom>
              <a:avLst/>
              <a:gdLst/>
              <a:ahLst/>
              <a:cxnLst/>
              <a:rect r="r" b="b" t="t" l="l"/>
              <a:pathLst>
                <a:path h="1710536" w="4816592">
                  <a:moveTo>
                    <a:pt x="0" y="0"/>
                  </a:moveTo>
                  <a:lnTo>
                    <a:pt x="4816592" y="0"/>
                  </a:lnTo>
                  <a:lnTo>
                    <a:pt x="4816592" y="1710536"/>
                  </a:lnTo>
                  <a:lnTo>
                    <a:pt x="0" y="1710536"/>
                  </a:lnTo>
                  <a:close/>
                </a:path>
              </a:pathLst>
            </a:custGeom>
            <a:solidFill>
              <a:srgbClr val="1C1C1C"/>
            </a:solidFill>
          </p:spPr>
        </p:sp>
        <p:sp>
          <p:nvSpPr>
            <p:cNvPr name="TextBox 4" id="4"/>
            <p:cNvSpPr txBox="true"/>
            <p:nvPr/>
          </p:nvSpPr>
          <p:spPr>
            <a:xfrm>
              <a:off x="0" y="19050"/>
              <a:ext cx="4816593" cy="1691485"/>
            </a:xfrm>
            <a:prstGeom prst="rect">
              <a:avLst/>
            </a:prstGeom>
          </p:spPr>
          <p:txBody>
            <a:bodyPr anchor="ctr" rtlCol="false" tIns="50800" lIns="50800" bIns="50800" rIns="50800"/>
            <a:lstStyle/>
            <a:p>
              <a:pPr algn="ctr">
                <a:lnSpc>
                  <a:spcPts val="2674"/>
                </a:lnSpc>
              </a:pPr>
            </a:p>
          </p:txBody>
        </p:sp>
      </p:grpSp>
      <p:sp>
        <p:nvSpPr>
          <p:cNvPr name="Freeform 5" id="5"/>
          <p:cNvSpPr/>
          <p:nvPr/>
        </p:nvSpPr>
        <p:spPr>
          <a:xfrm flipH="false" flipV="false" rot="0">
            <a:off x="4131853" y="259906"/>
            <a:ext cx="10024295" cy="5974877"/>
          </a:xfrm>
          <a:custGeom>
            <a:avLst/>
            <a:gdLst/>
            <a:ahLst/>
            <a:cxnLst/>
            <a:rect r="r" b="b" t="t" l="l"/>
            <a:pathLst>
              <a:path h="5974877" w="10024295">
                <a:moveTo>
                  <a:pt x="0" y="0"/>
                </a:moveTo>
                <a:lnTo>
                  <a:pt x="10024294" y="0"/>
                </a:lnTo>
                <a:lnTo>
                  <a:pt x="10024294" y="5974877"/>
                </a:lnTo>
                <a:lnTo>
                  <a:pt x="0" y="5974877"/>
                </a:lnTo>
                <a:lnTo>
                  <a:pt x="0" y="0"/>
                </a:lnTo>
                <a:close/>
              </a:path>
            </a:pathLst>
          </a:custGeom>
          <a:blipFill>
            <a:blip r:embed="rId2"/>
            <a:stretch>
              <a:fillRect l="0" t="0" r="0" b="0"/>
            </a:stretch>
          </a:blipFill>
        </p:spPr>
      </p:sp>
      <p:sp>
        <p:nvSpPr>
          <p:cNvPr name="TextBox 6" id="6"/>
          <p:cNvSpPr txBox="true"/>
          <p:nvPr/>
        </p:nvSpPr>
        <p:spPr>
          <a:xfrm rot="0">
            <a:off x="1028700" y="7298871"/>
            <a:ext cx="16230600" cy="688975"/>
          </a:xfrm>
          <a:prstGeom prst="rect">
            <a:avLst/>
          </a:prstGeom>
        </p:spPr>
        <p:txBody>
          <a:bodyPr anchor="t" rtlCol="false" tIns="0" lIns="0" bIns="0" rIns="0">
            <a:spAutoFit/>
          </a:bodyPr>
          <a:lstStyle/>
          <a:p>
            <a:pPr algn="l">
              <a:lnSpc>
                <a:spcPts val="2674"/>
              </a:lnSpc>
            </a:pPr>
            <a:r>
              <a:rPr lang="en-US" sz="2499">
                <a:solidFill>
                  <a:srgbClr val="363636"/>
                </a:solidFill>
                <a:latin typeface="Archivo Black"/>
                <a:ea typeface="Archivo Black"/>
                <a:cs typeface="Archivo Black"/>
                <a:sym typeface="Archivo Black"/>
              </a:rPr>
              <a:t>PROSES MODELING KELIMA:</a:t>
            </a:r>
          </a:p>
          <a:p>
            <a:pPr algn="l">
              <a:lnSpc>
                <a:spcPts val="2674"/>
              </a:lnSpc>
              <a:spcBef>
                <a:spcPct val="0"/>
              </a:spcBef>
            </a:pPr>
            <a:r>
              <a:rPr lang="en-US" sz="2499">
                <a:solidFill>
                  <a:srgbClr val="363636"/>
                </a:solidFill>
                <a:latin typeface="Archivo Black"/>
                <a:ea typeface="Archivo Black"/>
                <a:cs typeface="Archivo Black"/>
                <a:sym typeface="Archivo Black"/>
              </a:rPr>
              <a:t>MENAMPILKAN BEBERAPA HASIL DARI TOPIK YANG SUDAH DIPREDIKSI</a:t>
            </a:r>
          </a:p>
        </p:txBody>
      </p:sp>
    </p:spTree>
  </p:cSld>
  <p:clrMapOvr>
    <a:masterClrMapping/>
  </p:clrMapOvr>
</p:sld>
</file>

<file path=ppt/slides/slide22.xml><?xml version="1.0" encoding="utf-8"?>
<p:sld xmlns:p="http://schemas.openxmlformats.org/presentationml/2006/main" xmlns:a="http://schemas.openxmlformats.org/drawingml/2006/main">
  <p:cSld>
    <p:bg>
      <p:bgPr>
        <a:solidFill>
          <a:srgbClr val="F2EBE3"/>
        </a:solidFill>
      </p:bgPr>
    </p:bg>
    <p:spTree>
      <p:nvGrpSpPr>
        <p:cNvPr id="1" name=""/>
        <p:cNvGrpSpPr/>
        <p:nvPr/>
      </p:nvGrpSpPr>
      <p:grpSpPr>
        <a:xfrm>
          <a:off x="0" y="0"/>
          <a:ext cx="0" cy="0"/>
          <a:chOff x="0" y="0"/>
          <a:chExt cx="0" cy="0"/>
        </a:xfrm>
      </p:grpSpPr>
      <p:grpSp>
        <p:nvGrpSpPr>
          <p:cNvPr name="Group 2" id="2"/>
          <p:cNvGrpSpPr/>
          <p:nvPr/>
        </p:nvGrpSpPr>
        <p:grpSpPr>
          <a:xfrm rot="0">
            <a:off x="1330829" y="2535161"/>
            <a:ext cx="15626343" cy="5216678"/>
            <a:chOff x="0" y="0"/>
            <a:chExt cx="4115580" cy="1373940"/>
          </a:xfrm>
        </p:grpSpPr>
        <p:sp>
          <p:nvSpPr>
            <p:cNvPr name="Freeform 3" id="3"/>
            <p:cNvSpPr/>
            <p:nvPr/>
          </p:nvSpPr>
          <p:spPr>
            <a:xfrm flipH="false" flipV="false" rot="0">
              <a:off x="0" y="0"/>
              <a:ext cx="4115580" cy="1373940"/>
            </a:xfrm>
            <a:custGeom>
              <a:avLst/>
              <a:gdLst/>
              <a:ahLst/>
              <a:cxnLst/>
              <a:rect r="r" b="b" t="t" l="l"/>
              <a:pathLst>
                <a:path h="1373940" w="4115580">
                  <a:moveTo>
                    <a:pt x="0" y="0"/>
                  </a:moveTo>
                  <a:lnTo>
                    <a:pt x="4115580" y="0"/>
                  </a:lnTo>
                  <a:lnTo>
                    <a:pt x="4115580" y="1373940"/>
                  </a:lnTo>
                  <a:lnTo>
                    <a:pt x="0" y="1373940"/>
                  </a:lnTo>
                  <a:close/>
                </a:path>
              </a:pathLst>
            </a:custGeom>
            <a:solidFill>
              <a:srgbClr val="FFFFFF"/>
            </a:solidFill>
          </p:spPr>
        </p:sp>
        <p:sp>
          <p:nvSpPr>
            <p:cNvPr name="TextBox 4" id="4"/>
            <p:cNvSpPr txBox="true"/>
            <p:nvPr/>
          </p:nvSpPr>
          <p:spPr>
            <a:xfrm>
              <a:off x="0" y="19050"/>
              <a:ext cx="4115580" cy="1354890"/>
            </a:xfrm>
            <a:prstGeom prst="rect">
              <a:avLst/>
            </a:prstGeom>
          </p:spPr>
          <p:txBody>
            <a:bodyPr anchor="ctr" rtlCol="false" tIns="50800" lIns="50800" bIns="50800" rIns="50800"/>
            <a:lstStyle/>
            <a:p>
              <a:pPr algn="ctr">
                <a:lnSpc>
                  <a:spcPts val="2674"/>
                </a:lnSpc>
              </a:pPr>
            </a:p>
          </p:txBody>
        </p:sp>
      </p:grpSp>
      <p:sp>
        <p:nvSpPr>
          <p:cNvPr name="TextBox 5" id="5"/>
          <p:cNvSpPr txBox="true"/>
          <p:nvPr/>
        </p:nvSpPr>
        <p:spPr>
          <a:xfrm rot="0">
            <a:off x="1924667" y="3812379"/>
            <a:ext cx="14438667" cy="1965092"/>
          </a:xfrm>
          <a:prstGeom prst="rect">
            <a:avLst/>
          </a:prstGeom>
        </p:spPr>
        <p:txBody>
          <a:bodyPr anchor="t" rtlCol="false" tIns="0" lIns="0" bIns="0" rIns="0">
            <a:spAutoFit/>
          </a:bodyPr>
          <a:lstStyle/>
          <a:p>
            <a:pPr algn="l">
              <a:lnSpc>
                <a:spcPts val="7598"/>
              </a:lnSpc>
              <a:spcBef>
                <a:spcPct val="0"/>
              </a:spcBef>
            </a:pPr>
            <a:r>
              <a:rPr lang="en-US" sz="7101">
                <a:solidFill>
                  <a:srgbClr val="1C1C1C"/>
                </a:solidFill>
                <a:latin typeface="Archivo Black"/>
                <a:ea typeface="Archivo Black"/>
                <a:cs typeface="Archivo Black"/>
                <a:sym typeface="Archivo Black"/>
              </a:rPr>
              <a:t>SOCIAL NETWORK ANALYSIS</a:t>
            </a:r>
          </a:p>
        </p:txBody>
      </p:sp>
      <p:sp>
        <p:nvSpPr>
          <p:cNvPr name="TextBox 6" id="6"/>
          <p:cNvSpPr txBox="true"/>
          <p:nvPr/>
        </p:nvSpPr>
        <p:spPr>
          <a:xfrm rot="0">
            <a:off x="1924667" y="5796521"/>
            <a:ext cx="8834756" cy="355600"/>
          </a:xfrm>
          <a:prstGeom prst="rect">
            <a:avLst/>
          </a:prstGeom>
        </p:spPr>
        <p:txBody>
          <a:bodyPr anchor="t" rtlCol="false" tIns="0" lIns="0" bIns="0" rIns="0">
            <a:spAutoFit/>
          </a:bodyPr>
          <a:lstStyle/>
          <a:p>
            <a:pPr algn="l">
              <a:lnSpc>
                <a:spcPts val="2674"/>
              </a:lnSpc>
              <a:spcBef>
                <a:spcPct val="0"/>
              </a:spcBef>
            </a:pPr>
            <a:r>
              <a:rPr lang="en-US" sz="2499">
                <a:solidFill>
                  <a:srgbClr val="1C1C1C"/>
                </a:solidFill>
                <a:latin typeface="Archivo Black"/>
                <a:ea typeface="Archivo Black"/>
                <a:cs typeface="Archivo Black"/>
                <a:sym typeface="Archivo Black"/>
              </a:rPr>
              <a:t>GEPHI</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2EBE3"/>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6494689"/>
            <a:chOff x="0" y="0"/>
            <a:chExt cx="4816593" cy="1710535"/>
          </a:xfrm>
        </p:grpSpPr>
        <p:sp>
          <p:nvSpPr>
            <p:cNvPr name="Freeform 3" id="3"/>
            <p:cNvSpPr/>
            <p:nvPr/>
          </p:nvSpPr>
          <p:spPr>
            <a:xfrm flipH="false" flipV="false" rot="0">
              <a:off x="0" y="0"/>
              <a:ext cx="4816592" cy="1710536"/>
            </a:xfrm>
            <a:custGeom>
              <a:avLst/>
              <a:gdLst/>
              <a:ahLst/>
              <a:cxnLst/>
              <a:rect r="r" b="b" t="t" l="l"/>
              <a:pathLst>
                <a:path h="1710536" w="4816592">
                  <a:moveTo>
                    <a:pt x="0" y="0"/>
                  </a:moveTo>
                  <a:lnTo>
                    <a:pt x="4816592" y="0"/>
                  </a:lnTo>
                  <a:lnTo>
                    <a:pt x="4816592" y="1710536"/>
                  </a:lnTo>
                  <a:lnTo>
                    <a:pt x="0" y="1710536"/>
                  </a:lnTo>
                  <a:close/>
                </a:path>
              </a:pathLst>
            </a:custGeom>
            <a:solidFill>
              <a:srgbClr val="1C1C1C"/>
            </a:solidFill>
          </p:spPr>
        </p:sp>
        <p:sp>
          <p:nvSpPr>
            <p:cNvPr name="TextBox 4" id="4"/>
            <p:cNvSpPr txBox="true"/>
            <p:nvPr/>
          </p:nvSpPr>
          <p:spPr>
            <a:xfrm>
              <a:off x="0" y="19050"/>
              <a:ext cx="4816593" cy="1691485"/>
            </a:xfrm>
            <a:prstGeom prst="rect">
              <a:avLst/>
            </a:prstGeom>
          </p:spPr>
          <p:txBody>
            <a:bodyPr anchor="ctr" rtlCol="false" tIns="50800" lIns="50800" bIns="50800" rIns="50800"/>
            <a:lstStyle/>
            <a:p>
              <a:pPr algn="ctr">
                <a:lnSpc>
                  <a:spcPts val="2674"/>
                </a:lnSpc>
              </a:pPr>
            </a:p>
          </p:txBody>
        </p:sp>
      </p:grpSp>
      <p:sp>
        <p:nvSpPr>
          <p:cNvPr name="Freeform 5" id="5"/>
          <p:cNvSpPr/>
          <p:nvPr/>
        </p:nvSpPr>
        <p:spPr>
          <a:xfrm flipH="false" flipV="false" rot="0">
            <a:off x="527680" y="192539"/>
            <a:ext cx="9054665" cy="6109612"/>
          </a:xfrm>
          <a:custGeom>
            <a:avLst/>
            <a:gdLst/>
            <a:ahLst/>
            <a:cxnLst/>
            <a:rect r="r" b="b" t="t" l="l"/>
            <a:pathLst>
              <a:path h="6109612" w="9054665">
                <a:moveTo>
                  <a:pt x="0" y="0"/>
                </a:moveTo>
                <a:lnTo>
                  <a:pt x="9054664" y="0"/>
                </a:lnTo>
                <a:lnTo>
                  <a:pt x="9054664" y="6109612"/>
                </a:lnTo>
                <a:lnTo>
                  <a:pt x="0" y="6109612"/>
                </a:lnTo>
                <a:lnTo>
                  <a:pt x="0" y="0"/>
                </a:lnTo>
                <a:close/>
              </a:path>
            </a:pathLst>
          </a:custGeom>
          <a:blipFill>
            <a:blip r:embed="rId2"/>
            <a:stretch>
              <a:fillRect l="0" t="0" r="0" b="0"/>
            </a:stretch>
          </a:blipFill>
        </p:spPr>
      </p:sp>
      <p:sp>
        <p:nvSpPr>
          <p:cNvPr name="Freeform 6" id="6"/>
          <p:cNvSpPr/>
          <p:nvPr/>
        </p:nvSpPr>
        <p:spPr>
          <a:xfrm flipH="false" flipV="false" rot="0">
            <a:off x="9923765" y="141176"/>
            <a:ext cx="7866664" cy="6212338"/>
          </a:xfrm>
          <a:custGeom>
            <a:avLst/>
            <a:gdLst/>
            <a:ahLst/>
            <a:cxnLst/>
            <a:rect r="r" b="b" t="t" l="l"/>
            <a:pathLst>
              <a:path h="6212338" w="7866664">
                <a:moveTo>
                  <a:pt x="0" y="0"/>
                </a:moveTo>
                <a:lnTo>
                  <a:pt x="7866664" y="0"/>
                </a:lnTo>
                <a:lnTo>
                  <a:pt x="7866664" y="6212338"/>
                </a:lnTo>
                <a:lnTo>
                  <a:pt x="0" y="6212338"/>
                </a:lnTo>
                <a:lnTo>
                  <a:pt x="0" y="0"/>
                </a:lnTo>
                <a:close/>
              </a:path>
            </a:pathLst>
          </a:custGeom>
          <a:blipFill>
            <a:blip r:embed="rId3"/>
            <a:stretch>
              <a:fillRect l="0" t="0" r="0" b="0"/>
            </a:stretch>
          </a:blipFill>
        </p:spPr>
      </p:sp>
      <p:sp>
        <p:nvSpPr>
          <p:cNvPr name="TextBox 7" id="7"/>
          <p:cNvSpPr txBox="true"/>
          <p:nvPr/>
        </p:nvSpPr>
        <p:spPr>
          <a:xfrm rot="0">
            <a:off x="1028700" y="7298871"/>
            <a:ext cx="16230600" cy="688975"/>
          </a:xfrm>
          <a:prstGeom prst="rect">
            <a:avLst/>
          </a:prstGeom>
        </p:spPr>
        <p:txBody>
          <a:bodyPr anchor="t" rtlCol="false" tIns="0" lIns="0" bIns="0" rIns="0">
            <a:spAutoFit/>
          </a:bodyPr>
          <a:lstStyle/>
          <a:p>
            <a:pPr algn="l">
              <a:lnSpc>
                <a:spcPts val="2674"/>
              </a:lnSpc>
              <a:spcBef>
                <a:spcPct val="0"/>
              </a:spcBef>
            </a:pPr>
            <a:r>
              <a:rPr lang="en-US" sz="2499">
                <a:solidFill>
                  <a:srgbClr val="363636"/>
                </a:solidFill>
                <a:latin typeface="Archivo Black"/>
                <a:ea typeface="Archivo Black"/>
                <a:cs typeface="Archivo Black"/>
                <a:sym typeface="Archivo Black"/>
              </a:rPr>
              <a:t>TAHAPAN PERTAMA, MEMBUAT KONFIGURASI FILE DENGAN NETWORKX YANG NANTINYA AKAN DITERAPKAN (DIVISUALISASIKAN) DENGAN GEPHI.</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2EBE3"/>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6494689"/>
            <a:chOff x="0" y="0"/>
            <a:chExt cx="4816593" cy="1710535"/>
          </a:xfrm>
        </p:grpSpPr>
        <p:sp>
          <p:nvSpPr>
            <p:cNvPr name="Freeform 3" id="3"/>
            <p:cNvSpPr/>
            <p:nvPr/>
          </p:nvSpPr>
          <p:spPr>
            <a:xfrm flipH="false" flipV="false" rot="0">
              <a:off x="0" y="0"/>
              <a:ext cx="4816592" cy="1710536"/>
            </a:xfrm>
            <a:custGeom>
              <a:avLst/>
              <a:gdLst/>
              <a:ahLst/>
              <a:cxnLst/>
              <a:rect r="r" b="b" t="t" l="l"/>
              <a:pathLst>
                <a:path h="1710536" w="4816592">
                  <a:moveTo>
                    <a:pt x="0" y="0"/>
                  </a:moveTo>
                  <a:lnTo>
                    <a:pt x="4816592" y="0"/>
                  </a:lnTo>
                  <a:lnTo>
                    <a:pt x="4816592" y="1710536"/>
                  </a:lnTo>
                  <a:lnTo>
                    <a:pt x="0" y="1710536"/>
                  </a:lnTo>
                  <a:close/>
                </a:path>
              </a:pathLst>
            </a:custGeom>
            <a:solidFill>
              <a:srgbClr val="1C1C1C"/>
            </a:solidFill>
          </p:spPr>
        </p:sp>
        <p:sp>
          <p:nvSpPr>
            <p:cNvPr name="TextBox 4" id="4"/>
            <p:cNvSpPr txBox="true"/>
            <p:nvPr/>
          </p:nvSpPr>
          <p:spPr>
            <a:xfrm>
              <a:off x="0" y="19050"/>
              <a:ext cx="4816593" cy="1691485"/>
            </a:xfrm>
            <a:prstGeom prst="rect">
              <a:avLst/>
            </a:prstGeom>
          </p:spPr>
          <p:txBody>
            <a:bodyPr anchor="ctr" rtlCol="false" tIns="50800" lIns="50800" bIns="50800" rIns="50800"/>
            <a:lstStyle/>
            <a:p>
              <a:pPr algn="ctr">
                <a:lnSpc>
                  <a:spcPts val="2674"/>
                </a:lnSpc>
              </a:pPr>
            </a:p>
          </p:txBody>
        </p:sp>
      </p:grpSp>
      <p:sp>
        <p:nvSpPr>
          <p:cNvPr name="Freeform 5" id="5"/>
          <p:cNvSpPr/>
          <p:nvPr/>
        </p:nvSpPr>
        <p:spPr>
          <a:xfrm flipH="false" flipV="false" rot="0">
            <a:off x="3443752" y="1020685"/>
            <a:ext cx="11400496" cy="4453319"/>
          </a:xfrm>
          <a:custGeom>
            <a:avLst/>
            <a:gdLst/>
            <a:ahLst/>
            <a:cxnLst/>
            <a:rect r="r" b="b" t="t" l="l"/>
            <a:pathLst>
              <a:path h="4453319" w="11400496">
                <a:moveTo>
                  <a:pt x="0" y="0"/>
                </a:moveTo>
                <a:lnTo>
                  <a:pt x="11400496" y="0"/>
                </a:lnTo>
                <a:lnTo>
                  <a:pt x="11400496" y="4453319"/>
                </a:lnTo>
                <a:lnTo>
                  <a:pt x="0" y="4453319"/>
                </a:lnTo>
                <a:lnTo>
                  <a:pt x="0" y="0"/>
                </a:lnTo>
                <a:close/>
              </a:path>
            </a:pathLst>
          </a:custGeom>
          <a:blipFill>
            <a:blip r:embed="rId2"/>
            <a:stretch>
              <a:fillRect l="0" t="0" r="0" b="0"/>
            </a:stretch>
          </a:blipFill>
        </p:spPr>
      </p:sp>
      <p:sp>
        <p:nvSpPr>
          <p:cNvPr name="TextBox 6" id="6"/>
          <p:cNvSpPr txBox="true"/>
          <p:nvPr/>
        </p:nvSpPr>
        <p:spPr>
          <a:xfrm rot="0">
            <a:off x="1028700" y="7298871"/>
            <a:ext cx="16230600" cy="1022350"/>
          </a:xfrm>
          <a:prstGeom prst="rect">
            <a:avLst/>
          </a:prstGeom>
        </p:spPr>
        <p:txBody>
          <a:bodyPr anchor="t" rtlCol="false" tIns="0" lIns="0" bIns="0" rIns="0">
            <a:spAutoFit/>
          </a:bodyPr>
          <a:lstStyle/>
          <a:p>
            <a:pPr algn="l">
              <a:lnSpc>
                <a:spcPts val="2674"/>
              </a:lnSpc>
              <a:spcBef>
                <a:spcPct val="0"/>
              </a:spcBef>
            </a:pPr>
            <a:r>
              <a:rPr lang="en-US" sz="2499">
                <a:solidFill>
                  <a:srgbClr val="363636"/>
                </a:solidFill>
                <a:latin typeface="Archivo Black"/>
                <a:ea typeface="Archivo Black"/>
                <a:cs typeface="Archivo Black"/>
                <a:sym typeface="Archivo Black"/>
              </a:rPr>
              <a:t>MENYIMPAN FILE JIKA SUDAH SELESAI DIKONFIGURASI. FILE DISIMPAN KE DALAM EKSTENSI ‘.GEXF’ AGAR TIDAK PERLU BANYAK MENGAMBIL STEP LAGI SAAT DI IMPORT KE GEPHI.</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2EBE3"/>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6494689"/>
            <a:chOff x="0" y="0"/>
            <a:chExt cx="4816593" cy="1710535"/>
          </a:xfrm>
        </p:grpSpPr>
        <p:sp>
          <p:nvSpPr>
            <p:cNvPr name="Freeform 3" id="3"/>
            <p:cNvSpPr/>
            <p:nvPr/>
          </p:nvSpPr>
          <p:spPr>
            <a:xfrm flipH="false" flipV="false" rot="0">
              <a:off x="0" y="0"/>
              <a:ext cx="4816592" cy="1710536"/>
            </a:xfrm>
            <a:custGeom>
              <a:avLst/>
              <a:gdLst/>
              <a:ahLst/>
              <a:cxnLst/>
              <a:rect r="r" b="b" t="t" l="l"/>
              <a:pathLst>
                <a:path h="1710536" w="4816592">
                  <a:moveTo>
                    <a:pt x="0" y="0"/>
                  </a:moveTo>
                  <a:lnTo>
                    <a:pt x="4816592" y="0"/>
                  </a:lnTo>
                  <a:lnTo>
                    <a:pt x="4816592" y="1710536"/>
                  </a:lnTo>
                  <a:lnTo>
                    <a:pt x="0" y="1710536"/>
                  </a:lnTo>
                  <a:close/>
                </a:path>
              </a:pathLst>
            </a:custGeom>
            <a:solidFill>
              <a:srgbClr val="1C1C1C"/>
            </a:solidFill>
          </p:spPr>
        </p:sp>
        <p:sp>
          <p:nvSpPr>
            <p:cNvPr name="TextBox 4" id="4"/>
            <p:cNvSpPr txBox="true"/>
            <p:nvPr/>
          </p:nvSpPr>
          <p:spPr>
            <a:xfrm>
              <a:off x="0" y="19050"/>
              <a:ext cx="4816593" cy="1691485"/>
            </a:xfrm>
            <a:prstGeom prst="rect">
              <a:avLst/>
            </a:prstGeom>
          </p:spPr>
          <p:txBody>
            <a:bodyPr anchor="ctr" rtlCol="false" tIns="50800" lIns="50800" bIns="50800" rIns="50800"/>
            <a:lstStyle/>
            <a:p>
              <a:pPr algn="ctr">
                <a:lnSpc>
                  <a:spcPts val="2674"/>
                </a:lnSpc>
              </a:pPr>
            </a:p>
          </p:txBody>
        </p:sp>
      </p:grpSp>
      <p:sp>
        <p:nvSpPr>
          <p:cNvPr name="Freeform 5" id="5"/>
          <p:cNvSpPr/>
          <p:nvPr/>
        </p:nvSpPr>
        <p:spPr>
          <a:xfrm flipH="false" flipV="false" rot="0">
            <a:off x="2988732" y="123546"/>
            <a:ext cx="12310536" cy="6247597"/>
          </a:xfrm>
          <a:custGeom>
            <a:avLst/>
            <a:gdLst/>
            <a:ahLst/>
            <a:cxnLst/>
            <a:rect r="r" b="b" t="t" l="l"/>
            <a:pathLst>
              <a:path h="6247597" w="12310536">
                <a:moveTo>
                  <a:pt x="0" y="0"/>
                </a:moveTo>
                <a:lnTo>
                  <a:pt x="12310536" y="0"/>
                </a:lnTo>
                <a:lnTo>
                  <a:pt x="12310536" y="6247597"/>
                </a:lnTo>
                <a:lnTo>
                  <a:pt x="0" y="6247597"/>
                </a:lnTo>
                <a:lnTo>
                  <a:pt x="0" y="0"/>
                </a:lnTo>
                <a:close/>
              </a:path>
            </a:pathLst>
          </a:custGeom>
          <a:blipFill>
            <a:blip r:embed="rId2"/>
            <a:stretch>
              <a:fillRect l="0" t="0" r="0" b="0"/>
            </a:stretch>
          </a:blipFill>
        </p:spPr>
      </p:sp>
      <p:sp>
        <p:nvSpPr>
          <p:cNvPr name="TextBox 6" id="6"/>
          <p:cNvSpPr txBox="true"/>
          <p:nvPr/>
        </p:nvSpPr>
        <p:spPr>
          <a:xfrm rot="0">
            <a:off x="1028700" y="7298871"/>
            <a:ext cx="16230600" cy="2355850"/>
          </a:xfrm>
          <a:prstGeom prst="rect">
            <a:avLst/>
          </a:prstGeom>
        </p:spPr>
        <p:txBody>
          <a:bodyPr anchor="t" rtlCol="false" tIns="0" lIns="0" bIns="0" rIns="0">
            <a:spAutoFit/>
          </a:bodyPr>
          <a:lstStyle/>
          <a:p>
            <a:pPr algn="l">
              <a:lnSpc>
                <a:spcPts val="2674"/>
              </a:lnSpc>
            </a:pPr>
            <a:r>
              <a:rPr lang="en-US" sz="2499">
                <a:solidFill>
                  <a:srgbClr val="363636"/>
                </a:solidFill>
                <a:latin typeface="Archivo Black"/>
                <a:ea typeface="Archivo Black"/>
                <a:cs typeface="Archivo Black"/>
                <a:sym typeface="Archivo Black"/>
              </a:rPr>
              <a:t>UNTUK HASIL DARI GEPHI, SAYA MENGGUNAKAN LAYOUT FRUCHTERMAN GOLD UNTUK HASIL VISUALISASI YANG LEBIH BAIK. SEBAB, HASIL DARI FORCE ATLAS 2 MASIH TERLALU BERANTAKAN UNTUK DATASET SAYA.</a:t>
            </a:r>
          </a:p>
          <a:p>
            <a:pPr algn="l">
              <a:lnSpc>
                <a:spcPts val="2674"/>
              </a:lnSpc>
            </a:pPr>
          </a:p>
          <a:p>
            <a:pPr algn="l">
              <a:lnSpc>
                <a:spcPts val="2674"/>
              </a:lnSpc>
              <a:spcBef>
                <a:spcPct val="0"/>
              </a:spcBef>
            </a:pPr>
            <a:r>
              <a:rPr lang="en-US" sz="2499">
                <a:solidFill>
                  <a:srgbClr val="363636"/>
                </a:solidFill>
                <a:latin typeface="Archivo Black"/>
                <a:ea typeface="Archivo Black"/>
                <a:cs typeface="Archivo Black"/>
                <a:sym typeface="Archivo Black"/>
              </a:rPr>
              <a:t>BERDASARKAN HASIL DARI GAMBAR TERSEBUT, DAPAT TERLIHAT NODE MANA SAJA YANG BESAR (BANYAK MENTION), SERTA WARNA TIAP KOMUNITASNYA. UNTUK DETAIL YANG LEBIH JELAS, INI BISA DI ZOOM DARI GEPHI NYA.</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2EBE3"/>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6494689"/>
            <a:chOff x="0" y="0"/>
            <a:chExt cx="4816593" cy="1710535"/>
          </a:xfrm>
        </p:grpSpPr>
        <p:sp>
          <p:nvSpPr>
            <p:cNvPr name="Freeform 3" id="3"/>
            <p:cNvSpPr/>
            <p:nvPr/>
          </p:nvSpPr>
          <p:spPr>
            <a:xfrm flipH="false" flipV="false" rot="0">
              <a:off x="0" y="0"/>
              <a:ext cx="4816592" cy="1710536"/>
            </a:xfrm>
            <a:custGeom>
              <a:avLst/>
              <a:gdLst/>
              <a:ahLst/>
              <a:cxnLst/>
              <a:rect r="r" b="b" t="t" l="l"/>
              <a:pathLst>
                <a:path h="1710536" w="4816592">
                  <a:moveTo>
                    <a:pt x="0" y="0"/>
                  </a:moveTo>
                  <a:lnTo>
                    <a:pt x="4816592" y="0"/>
                  </a:lnTo>
                  <a:lnTo>
                    <a:pt x="4816592" y="1710536"/>
                  </a:lnTo>
                  <a:lnTo>
                    <a:pt x="0" y="1710536"/>
                  </a:lnTo>
                  <a:close/>
                </a:path>
              </a:pathLst>
            </a:custGeom>
            <a:solidFill>
              <a:srgbClr val="1C1C1C"/>
            </a:solidFill>
          </p:spPr>
        </p:sp>
        <p:sp>
          <p:nvSpPr>
            <p:cNvPr name="TextBox 4" id="4"/>
            <p:cNvSpPr txBox="true"/>
            <p:nvPr/>
          </p:nvSpPr>
          <p:spPr>
            <a:xfrm>
              <a:off x="0" y="19050"/>
              <a:ext cx="4816593" cy="1691485"/>
            </a:xfrm>
            <a:prstGeom prst="rect">
              <a:avLst/>
            </a:prstGeom>
          </p:spPr>
          <p:txBody>
            <a:bodyPr anchor="ctr" rtlCol="false" tIns="50800" lIns="50800" bIns="50800" rIns="50800"/>
            <a:lstStyle/>
            <a:p>
              <a:pPr algn="ctr">
                <a:lnSpc>
                  <a:spcPts val="2674"/>
                </a:lnSpc>
              </a:pPr>
            </a:p>
          </p:txBody>
        </p:sp>
      </p:grpSp>
      <p:sp>
        <p:nvSpPr>
          <p:cNvPr name="Freeform 5" id="5"/>
          <p:cNvSpPr/>
          <p:nvPr/>
        </p:nvSpPr>
        <p:spPr>
          <a:xfrm flipH="false" flipV="false" rot="0">
            <a:off x="3522437" y="157347"/>
            <a:ext cx="11243126" cy="6179996"/>
          </a:xfrm>
          <a:custGeom>
            <a:avLst/>
            <a:gdLst/>
            <a:ahLst/>
            <a:cxnLst/>
            <a:rect r="r" b="b" t="t" l="l"/>
            <a:pathLst>
              <a:path h="6179996" w="11243126">
                <a:moveTo>
                  <a:pt x="0" y="0"/>
                </a:moveTo>
                <a:lnTo>
                  <a:pt x="11243126" y="0"/>
                </a:lnTo>
                <a:lnTo>
                  <a:pt x="11243126" y="6179996"/>
                </a:lnTo>
                <a:lnTo>
                  <a:pt x="0" y="6179996"/>
                </a:lnTo>
                <a:lnTo>
                  <a:pt x="0" y="0"/>
                </a:lnTo>
                <a:close/>
              </a:path>
            </a:pathLst>
          </a:custGeom>
          <a:blipFill>
            <a:blip r:embed="rId2"/>
            <a:stretch>
              <a:fillRect l="0" t="0" r="0" b="0"/>
            </a:stretch>
          </a:blipFill>
        </p:spPr>
      </p:sp>
      <p:sp>
        <p:nvSpPr>
          <p:cNvPr name="TextBox 6" id="6"/>
          <p:cNvSpPr txBox="true"/>
          <p:nvPr/>
        </p:nvSpPr>
        <p:spPr>
          <a:xfrm rot="0">
            <a:off x="1028700" y="7298871"/>
            <a:ext cx="16230600" cy="1689100"/>
          </a:xfrm>
          <a:prstGeom prst="rect">
            <a:avLst/>
          </a:prstGeom>
        </p:spPr>
        <p:txBody>
          <a:bodyPr anchor="t" rtlCol="false" tIns="0" lIns="0" bIns="0" rIns="0">
            <a:spAutoFit/>
          </a:bodyPr>
          <a:lstStyle/>
          <a:p>
            <a:pPr algn="l">
              <a:lnSpc>
                <a:spcPts val="2674"/>
              </a:lnSpc>
            </a:pPr>
            <a:r>
              <a:rPr lang="en-US" sz="2499">
                <a:solidFill>
                  <a:srgbClr val="363636"/>
                </a:solidFill>
                <a:latin typeface="Archivo Black"/>
                <a:ea typeface="Archivo Black"/>
                <a:cs typeface="Archivo Black"/>
                <a:sym typeface="Archivo Black"/>
              </a:rPr>
              <a:t>KOMUNITAS 1 = MERAH</a:t>
            </a:r>
          </a:p>
          <a:p>
            <a:pPr algn="l">
              <a:lnSpc>
                <a:spcPts val="2674"/>
              </a:lnSpc>
            </a:pPr>
            <a:r>
              <a:rPr lang="en-US" sz="2499">
                <a:solidFill>
                  <a:srgbClr val="363636"/>
                </a:solidFill>
                <a:latin typeface="Archivo Black"/>
                <a:ea typeface="Archivo Black"/>
                <a:cs typeface="Archivo Black"/>
                <a:sym typeface="Archivo Black"/>
              </a:rPr>
              <a:t>KOMUNITAS 2 = BIRU</a:t>
            </a:r>
          </a:p>
          <a:p>
            <a:pPr algn="l">
              <a:lnSpc>
                <a:spcPts val="2674"/>
              </a:lnSpc>
            </a:pPr>
            <a:r>
              <a:rPr lang="en-US" sz="2499">
                <a:solidFill>
                  <a:srgbClr val="363636"/>
                </a:solidFill>
                <a:latin typeface="Archivo Black"/>
                <a:ea typeface="Archivo Black"/>
                <a:cs typeface="Archivo Black"/>
                <a:sym typeface="Archivo Black"/>
              </a:rPr>
              <a:t>KOMUNITAS 3 = KUNING</a:t>
            </a:r>
          </a:p>
          <a:p>
            <a:pPr algn="l">
              <a:lnSpc>
                <a:spcPts val="2674"/>
              </a:lnSpc>
            </a:pPr>
            <a:r>
              <a:rPr lang="en-US" sz="2499">
                <a:solidFill>
                  <a:srgbClr val="363636"/>
                </a:solidFill>
                <a:latin typeface="Archivo Black"/>
                <a:ea typeface="Archivo Black"/>
                <a:cs typeface="Archivo Black"/>
                <a:sym typeface="Archivo Black"/>
              </a:rPr>
              <a:t>KOMUNITAS 4 = HIJAU</a:t>
            </a:r>
          </a:p>
          <a:p>
            <a:pPr algn="l">
              <a:lnSpc>
                <a:spcPts val="2674"/>
              </a:lnSpc>
              <a:spcBef>
                <a:spcPct val="0"/>
              </a:spcBef>
            </a:pPr>
            <a:r>
              <a:rPr lang="en-US" sz="2499">
                <a:solidFill>
                  <a:srgbClr val="363636"/>
                </a:solidFill>
                <a:latin typeface="Archivo Black"/>
                <a:ea typeface="Archivo Black"/>
                <a:cs typeface="Archivo Black"/>
                <a:sym typeface="Archivo Black"/>
              </a:rPr>
              <a:t>KOMUNITAS 5 = UNGU</a:t>
            </a:r>
          </a:p>
        </p:txBody>
      </p:sp>
    </p:spTree>
  </p:cSld>
  <p:clrMapOvr>
    <a:masterClrMapping/>
  </p:clrMapOvr>
</p:sld>
</file>

<file path=ppt/slides/slide27.xml><?xml version="1.0" encoding="utf-8"?>
<p:sld xmlns:p="http://schemas.openxmlformats.org/presentationml/2006/main" xmlns:a="http://schemas.openxmlformats.org/drawingml/2006/main">
  <p:cSld>
    <p:bg>
      <p:bgPr>
        <a:solidFill>
          <a:srgbClr val="FC6736"/>
        </a:solidFill>
      </p:bgPr>
    </p:bg>
    <p:spTree>
      <p:nvGrpSpPr>
        <p:cNvPr id="1" name=""/>
        <p:cNvGrpSpPr/>
        <p:nvPr/>
      </p:nvGrpSpPr>
      <p:grpSpPr>
        <a:xfrm>
          <a:off x="0" y="0"/>
          <a:ext cx="0" cy="0"/>
          <a:chOff x="0" y="0"/>
          <a:chExt cx="0" cy="0"/>
        </a:xfrm>
      </p:grpSpPr>
      <p:sp>
        <p:nvSpPr>
          <p:cNvPr name="TextBox 2" id="2"/>
          <p:cNvSpPr txBox="true"/>
          <p:nvPr/>
        </p:nvSpPr>
        <p:spPr>
          <a:xfrm rot="0">
            <a:off x="981075" y="5600700"/>
            <a:ext cx="15000146" cy="2057400"/>
          </a:xfrm>
          <a:prstGeom prst="rect">
            <a:avLst/>
          </a:prstGeom>
        </p:spPr>
        <p:txBody>
          <a:bodyPr anchor="t" rtlCol="false" tIns="0" lIns="0" bIns="0" rIns="0">
            <a:spAutoFit/>
          </a:bodyPr>
          <a:lstStyle/>
          <a:p>
            <a:pPr algn="l">
              <a:lnSpc>
                <a:spcPts val="14850"/>
              </a:lnSpc>
            </a:pPr>
            <a:r>
              <a:rPr lang="en-US" sz="16500">
                <a:solidFill>
                  <a:srgbClr val="1C1C1C"/>
                </a:solidFill>
                <a:latin typeface="Archivo Black"/>
                <a:ea typeface="Archivo Black"/>
                <a:cs typeface="Archivo Black"/>
                <a:sym typeface="Archivo Black"/>
              </a:rPr>
              <a:t>THANKYOU</a:t>
            </a:r>
          </a:p>
        </p:txBody>
      </p:sp>
      <p:sp>
        <p:nvSpPr>
          <p:cNvPr name="TextBox 3" id="3"/>
          <p:cNvSpPr txBox="true"/>
          <p:nvPr/>
        </p:nvSpPr>
        <p:spPr>
          <a:xfrm rot="0">
            <a:off x="13488518" y="8730984"/>
            <a:ext cx="4474131" cy="358775"/>
          </a:xfrm>
          <a:prstGeom prst="rect">
            <a:avLst/>
          </a:prstGeom>
        </p:spPr>
        <p:txBody>
          <a:bodyPr anchor="t" rtlCol="false" tIns="0" lIns="0" bIns="0" rIns="0">
            <a:spAutoFit/>
          </a:bodyPr>
          <a:lstStyle/>
          <a:p>
            <a:pPr algn="l">
              <a:lnSpc>
                <a:spcPts val="2800"/>
              </a:lnSpc>
              <a:spcBef>
                <a:spcPct val="0"/>
              </a:spcBef>
            </a:pPr>
            <a:r>
              <a:rPr lang="en-US" b="true" sz="2000">
                <a:solidFill>
                  <a:srgbClr val="363636"/>
                </a:solidFill>
                <a:latin typeface="Raleway Bold"/>
                <a:ea typeface="Raleway Bold"/>
                <a:cs typeface="Raleway Bold"/>
                <a:sym typeface="Raleway Bold"/>
              </a:rPr>
              <a:t>2411500362@student.budiluhur.ac.id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DAHNiatWUig</dc:identifier>
  <dcterms:modified xsi:type="dcterms:W3CDTF">2011-08-01T06:04:30Z</dcterms:modified>
  <cp:revision>1</cp:revision>
  <dc:title>MLuas</dc:title>
</cp:coreProperties>
</file>